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9" r:id="rId4"/>
    <p:sldId id="270" r:id="rId5"/>
    <p:sldId id="271" r:id="rId6"/>
    <p:sldId id="274" r:id="rId7"/>
    <p:sldId id="276" r:id="rId8"/>
    <p:sldId id="275" r:id="rId9"/>
    <p:sldId id="277" r:id="rId10"/>
    <p:sldId id="273" r:id="rId11"/>
    <p:sldId id="278" r:id="rId12"/>
    <p:sldId id="279" r:id="rId13"/>
    <p:sldId id="280" r:id="rId14"/>
    <p:sldId id="272" r:id="rId15"/>
    <p:sldId id="281" r:id="rId16"/>
    <p:sldId id="282" r:id="rId17"/>
    <p:sldId id="283" r:id="rId18"/>
    <p:sldId id="284" r:id="rId19"/>
    <p:sldId id="28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50FF"/>
    <a:srgbClr val="FCFDFF"/>
    <a:srgbClr val="FFFFFF"/>
    <a:srgbClr val="ECE5E4"/>
    <a:srgbClr val="7E72FA"/>
    <a:srgbClr val="E6EA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2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66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7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26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00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54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96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11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81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05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48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07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2024-06-05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5428230" y="2086269"/>
            <a:ext cx="43584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54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L</a:t>
            </a:r>
            <a:r>
              <a:rPr lang="en-US" altLang="ko-KR" sz="54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UCAS </a:t>
            </a:r>
            <a:r>
              <a:rPr lang="en-US" altLang="ko-KR" sz="54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K</a:t>
            </a:r>
            <a:r>
              <a:rPr lang="en-US" altLang="ko-KR" sz="54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ANADE</a:t>
            </a:r>
          </a:p>
          <a:p>
            <a:pPr latinLnBrk="0">
              <a:defRPr/>
            </a:pPr>
            <a:r>
              <a:rPr lang="en-US" altLang="ko-KR" sz="54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</a:t>
            </a:r>
            <a:r>
              <a:rPr lang="en-US" altLang="ko-KR" sz="54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ETHOD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5352030" y="2213534"/>
            <a:ext cx="0" cy="2268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83E8C32-1FBE-6134-D183-39693B99C7D5}"/>
              </a:ext>
            </a:extLst>
          </p:cNvPr>
          <p:cNvSpPr txBox="1"/>
          <p:nvPr/>
        </p:nvSpPr>
        <p:spPr>
          <a:xfrm>
            <a:off x="2949574" y="2193990"/>
            <a:ext cx="211579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6000" kern="0" dirty="0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SIM</a:t>
            </a:r>
          </a:p>
          <a:p>
            <a:pPr algn="r">
              <a:defRPr/>
            </a:pPr>
            <a:r>
              <a:rPr lang="en-US" altLang="ko-KR" sz="4400" kern="0" dirty="0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HYUN</a:t>
            </a:r>
          </a:p>
          <a:p>
            <a:pPr algn="r">
              <a:defRPr/>
            </a:pPr>
            <a:r>
              <a:rPr lang="en-US" altLang="ko-KR" sz="4600" kern="0" dirty="0">
                <a:ln w="12700">
                  <a:noFill/>
                </a:ln>
                <a:solidFill>
                  <a:prstClr val="white">
                    <a:lumMod val="75000"/>
                  </a:prst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A</a:t>
            </a:r>
            <a:endParaRPr lang="ko-KR" altLang="en-US" sz="4600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78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영상 분석 </a:t>
            </a:r>
            <a:r>
              <a:rPr lang="ko-KR" altLang="en-US" sz="2800" i="1" kern="0" dirty="0" err="1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기본성질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6D1F7D-68AC-756C-C5FE-4337C8437D96}"/>
              </a:ext>
            </a:extLst>
          </p:cNvPr>
          <p:cNvSpPr/>
          <p:nvPr/>
        </p:nvSpPr>
        <p:spPr>
          <a:xfrm>
            <a:off x="412201" y="1642700"/>
            <a:ext cx="4591540" cy="656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영상 일관성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(coherence)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어떤 픽셀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(x, y)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의 색과 주변 픽셀의 색은 유사하다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691DB1-3D4D-94DF-7746-5EC39EBCBC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7" r="7633"/>
          <a:stretch/>
        </p:blipFill>
        <p:spPr>
          <a:xfrm>
            <a:off x="5274714" y="2527300"/>
            <a:ext cx="2740630" cy="3517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B3A1C99-50E2-365D-581E-D254DA9D43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2" b="5136"/>
          <a:stretch/>
        </p:blipFill>
        <p:spPr>
          <a:xfrm>
            <a:off x="8527562" y="2527300"/>
            <a:ext cx="2800840" cy="3517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5322D13-ACA3-C1FD-BE87-7CA3D1A40DEB}"/>
                  </a:ext>
                </a:extLst>
              </p:cNvPr>
              <p:cNvSpPr/>
              <p:nvPr/>
            </p:nvSpPr>
            <p:spPr>
              <a:xfrm>
                <a:off x="5451229" y="1642700"/>
                <a:ext cx="5521573" cy="6572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시간 일관성</a:t>
                </a:r>
                <a:endParaRPr lang="en-US" altLang="ko-K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  <a:p>
                <a:pPr algn="ctr">
                  <a:lnSpc>
                    <a:spcPct val="150000"/>
                  </a:lnSpc>
                  <a:defRPr/>
                </a:pPr>
                <a:r>
                  <a:rPr lang="en-US" altLang="ko-KR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t </a:t>
                </a:r>
                <a:r>
                  <a:rPr lang="ko-KR" altLang="en-US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순간의 픽셀 값</a:t>
                </a:r>
                <a14:m>
                  <m:oMath xmlns:m="http://schemas.openxmlformats.org/officeDocument/2006/math">
                    <m:r>
                      <a:rPr lang="en-US" altLang="ko-KR" sz="1200" b="0" i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는 다음 순간 픽셀 값</a:t>
                </a:r>
                <a14:m>
                  <m:oMath xmlns:m="http://schemas.openxmlformats.org/officeDocument/2006/math">
                    <m:r>
                      <a:rPr lang="en-US" altLang="ko-KR" sz="120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2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2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2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2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2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200" b="0" i="1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ko-KR" sz="1200" i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값 과 비슷하다</a:t>
                </a:r>
                <a:r>
                  <a:rPr lang="en-US" altLang="ko-KR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5322D13-ACA3-C1FD-BE87-7CA3D1A40D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229" y="1642700"/>
                <a:ext cx="5521573" cy="657296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D53A1A45-9581-82E8-AA1C-C604BB39C8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767" y="2527298"/>
            <a:ext cx="2814674" cy="3517899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54407C3C-AC51-89D0-2B87-8487B8DF1F1A}"/>
              </a:ext>
            </a:extLst>
          </p:cNvPr>
          <p:cNvSpPr/>
          <p:nvPr/>
        </p:nvSpPr>
        <p:spPr>
          <a:xfrm>
            <a:off x="1644650" y="5397500"/>
            <a:ext cx="107950" cy="127000"/>
          </a:xfrm>
          <a:prstGeom prst="ellipse">
            <a:avLst/>
          </a:prstGeom>
          <a:noFill/>
          <a:ln w="38100">
            <a:solidFill>
              <a:srgbClr val="FCF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67DAD1D-7F8A-E178-7F53-2A51B7868437}"/>
              </a:ext>
            </a:extLst>
          </p:cNvPr>
          <p:cNvSpPr/>
          <p:nvPr/>
        </p:nvSpPr>
        <p:spPr>
          <a:xfrm>
            <a:off x="5632450" y="5371312"/>
            <a:ext cx="107950" cy="127000"/>
          </a:xfrm>
          <a:prstGeom prst="ellipse">
            <a:avLst/>
          </a:prstGeom>
          <a:noFill/>
          <a:ln w="38100">
            <a:solidFill>
              <a:srgbClr val="FCF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9B3762-2AA3-9831-80B0-D66AD941DA40}"/>
              </a:ext>
            </a:extLst>
          </p:cNvPr>
          <p:cNvSpPr/>
          <p:nvPr/>
        </p:nvSpPr>
        <p:spPr>
          <a:xfrm>
            <a:off x="8718550" y="5549112"/>
            <a:ext cx="107950" cy="127000"/>
          </a:xfrm>
          <a:prstGeom prst="ellipse">
            <a:avLst/>
          </a:prstGeom>
          <a:noFill/>
          <a:ln w="38100">
            <a:solidFill>
              <a:srgbClr val="FCF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863D781-AF75-2D7A-B8A0-16EF12BA4D03}"/>
              </a:ext>
            </a:extLst>
          </p:cNvPr>
          <p:cNvCxnSpPr/>
          <p:nvPr/>
        </p:nvCxnSpPr>
        <p:spPr>
          <a:xfrm>
            <a:off x="5838826" y="5416944"/>
            <a:ext cx="2825750" cy="21511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40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영상 분석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기본개념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6D1F7D-68AC-756C-C5FE-4337C8437D96}"/>
              </a:ext>
            </a:extLst>
          </p:cNvPr>
          <p:cNvSpPr/>
          <p:nvPr/>
        </p:nvSpPr>
        <p:spPr>
          <a:xfrm>
            <a:off x="2218784" y="2036400"/>
            <a:ext cx="4591540" cy="656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Motion Field = Optical Field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움직임이 발생한 모든 점의 모션 벡터로 얻어낸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2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차원 모션 맵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C4AD21-F4D7-D059-CB4B-3FD991B0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84" y="2877945"/>
            <a:ext cx="7754432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59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영상 분석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기본개념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_</a:t>
            </a:r>
            <a:r>
              <a:rPr lang="ko-KR" altLang="en-US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주의할 점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6D1F7D-68AC-756C-C5FE-4337C8437D96}"/>
              </a:ext>
            </a:extLst>
          </p:cNvPr>
          <p:cNvSpPr/>
          <p:nvPr/>
        </p:nvSpPr>
        <p:spPr>
          <a:xfrm>
            <a:off x="2104387" y="1713576"/>
            <a:ext cx="3271526" cy="656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구의 회전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모션 벡터가 발생하지만 영상의 변화가 없음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BD60EA8-4B07-F6BB-AFC2-C36A824015B8}"/>
              </a:ext>
            </a:extLst>
          </p:cNvPr>
          <p:cNvSpPr/>
          <p:nvPr/>
        </p:nvSpPr>
        <p:spPr>
          <a:xfrm>
            <a:off x="2218784" y="3263900"/>
            <a:ext cx="2946400" cy="2946400"/>
          </a:xfrm>
          <a:prstGeom prst="ellipse">
            <a:avLst/>
          </a:prstGeom>
          <a:gradFill flip="none" rotWithShape="1">
            <a:gsLst>
              <a:gs pos="0">
                <a:srgbClr val="7E72FA">
                  <a:tint val="66000"/>
                  <a:satMod val="160000"/>
                </a:srgbClr>
              </a:gs>
              <a:gs pos="50000">
                <a:srgbClr val="7E72FA">
                  <a:tint val="44500"/>
                  <a:satMod val="160000"/>
                </a:srgbClr>
              </a:gs>
              <a:gs pos="100000">
                <a:srgbClr val="7E72FA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6D5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B2E1F16-37CF-EA8B-760C-4B888A29D159}"/>
              </a:ext>
            </a:extLst>
          </p:cNvPr>
          <p:cNvSpPr/>
          <p:nvPr/>
        </p:nvSpPr>
        <p:spPr>
          <a:xfrm>
            <a:off x="7209884" y="3263900"/>
            <a:ext cx="2946400" cy="2946400"/>
          </a:xfrm>
          <a:prstGeom prst="ellipse">
            <a:avLst/>
          </a:prstGeom>
          <a:gradFill flip="none" rotWithShape="1">
            <a:gsLst>
              <a:gs pos="0">
                <a:srgbClr val="7E72FA">
                  <a:tint val="66000"/>
                  <a:satMod val="160000"/>
                </a:srgbClr>
              </a:gs>
              <a:gs pos="50000">
                <a:srgbClr val="7E72FA">
                  <a:tint val="44500"/>
                  <a:satMod val="160000"/>
                </a:srgbClr>
              </a:gs>
              <a:gs pos="100000">
                <a:srgbClr val="7E72FA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6D5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화살표: 위로 구부러짐 8">
            <a:extLst>
              <a:ext uri="{FF2B5EF4-FFF2-40B4-BE49-F238E27FC236}">
                <a16:creationId xmlns:a16="http://schemas.microsoft.com/office/drawing/2014/main" id="{675BAFA7-31F7-D51E-3CF0-49DD6BAECA7F}"/>
              </a:ext>
            </a:extLst>
          </p:cNvPr>
          <p:cNvSpPr/>
          <p:nvPr/>
        </p:nvSpPr>
        <p:spPr>
          <a:xfrm>
            <a:off x="2921000" y="3149600"/>
            <a:ext cx="1638300" cy="4445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아래로 구부러짐 10">
            <a:extLst>
              <a:ext uri="{FF2B5EF4-FFF2-40B4-BE49-F238E27FC236}">
                <a16:creationId xmlns:a16="http://schemas.microsoft.com/office/drawing/2014/main" id="{56F86761-218B-2C1C-8CA8-D0EB7BC08D40}"/>
              </a:ext>
            </a:extLst>
          </p:cNvPr>
          <p:cNvSpPr/>
          <p:nvPr/>
        </p:nvSpPr>
        <p:spPr>
          <a:xfrm>
            <a:off x="7813134" y="3028950"/>
            <a:ext cx="1739900" cy="5080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해 11">
            <a:extLst>
              <a:ext uri="{FF2B5EF4-FFF2-40B4-BE49-F238E27FC236}">
                <a16:creationId xmlns:a16="http://schemas.microsoft.com/office/drawing/2014/main" id="{4F9388E2-508F-AEA2-C363-DC83742D11CF}"/>
              </a:ext>
            </a:extLst>
          </p:cNvPr>
          <p:cNvSpPr/>
          <p:nvPr/>
        </p:nvSpPr>
        <p:spPr>
          <a:xfrm>
            <a:off x="6825658" y="2781300"/>
            <a:ext cx="889000" cy="889000"/>
          </a:xfrm>
          <a:prstGeom prst="sun">
            <a:avLst/>
          </a:prstGeom>
          <a:solidFill>
            <a:srgbClr val="FFC000"/>
          </a:solidFill>
          <a:ln>
            <a:solidFill>
              <a:srgbClr val="E6EA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해 12">
            <a:extLst>
              <a:ext uri="{FF2B5EF4-FFF2-40B4-BE49-F238E27FC236}">
                <a16:creationId xmlns:a16="http://schemas.microsoft.com/office/drawing/2014/main" id="{8779CD1A-6F89-C6FD-4CDD-879CFD1B5D93}"/>
              </a:ext>
            </a:extLst>
          </p:cNvPr>
          <p:cNvSpPr/>
          <p:nvPr/>
        </p:nvSpPr>
        <p:spPr>
          <a:xfrm>
            <a:off x="9651510" y="2781300"/>
            <a:ext cx="889000" cy="889000"/>
          </a:xfrm>
          <a:prstGeom prst="sun">
            <a:avLst/>
          </a:prstGeom>
          <a:solidFill>
            <a:srgbClr val="FFC000"/>
          </a:solidFill>
          <a:ln>
            <a:solidFill>
              <a:srgbClr val="E6EA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B6CF48-6B06-B90E-C373-4D9535D4AD87}"/>
              </a:ext>
            </a:extLst>
          </p:cNvPr>
          <p:cNvSpPr/>
          <p:nvPr/>
        </p:nvSpPr>
        <p:spPr>
          <a:xfrm>
            <a:off x="7047321" y="1713576"/>
            <a:ext cx="3271526" cy="656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광원 이동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모션 벡터가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0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이지만 영상에는 변화가 발생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823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영상 분석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기본개념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6D1F7D-68AC-756C-C5FE-4337C8437D96}"/>
              </a:ext>
            </a:extLst>
          </p:cNvPr>
          <p:cNvSpPr/>
          <p:nvPr/>
        </p:nvSpPr>
        <p:spPr>
          <a:xfrm>
            <a:off x="1678621" y="5031932"/>
            <a:ext cx="8834757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2000" b="1" dirty="0">
                <a:ln>
                  <a:solidFill>
                    <a:srgbClr val="E6EAF3"/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Temporal Feature (</a:t>
            </a:r>
            <a:r>
              <a:rPr lang="ko-KR" altLang="en-US" sz="2000" b="1" dirty="0">
                <a:ln>
                  <a:solidFill>
                    <a:srgbClr val="E6EAF3"/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시간의 흐름에 따라 변하는 특징</a:t>
            </a:r>
            <a:r>
              <a:rPr lang="en-US" altLang="ko-KR" sz="2000" b="1" dirty="0">
                <a:ln>
                  <a:solidFill>
                    <a:srgbClr val="E6EAF3"/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) </a:t>
            </a:r>
            <a:r>
              <a:rPr lang="ko-KR" altLang="en-US" sz="2000" b="1" dirty="0">
                <a:ln>
                  <a:solidFill>
                    <a:srgbClr val="E6EAF3"/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을 구하는 것이 중요</a:t>
            </a:r>
            <a:r>
              <a:rPr lang="en-US" altLang="ko-KR" sz="2000" b="1" dirty="0">
                <a:ln>
                  <a:solidFill>
                    <a:srgbClr val="E6EAF3"/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!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B6CF48-6B06-B90E-C373-4D9535D4AD87}"/>
              </a:ext>
            </a:extLst>
          </p:cNvPr>
          <p:cNvSpPr/>
          <p:nvPr/>
        </p:nvSpPr>
        <p:spPr>
          <a:xfrm>
            <a:off x="2331717" y="2132238"/>
            <a:ext cx="4328163" cy="15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Motion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의 </a:t>
            </a: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3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가지 요소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228600" indent="-228600" algn="just">
              <a:lnSpc>
                <a:spcPct val="150000"/>
              </a:lnSpc>
              <a:buAutoNum type="arabicPeriod"/>
              <a:defRPr/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Motion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의 크기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228600" indent="-228600" algn="just">
              <a:lnSpc>
                <a:spcPct val="150000"/>
              </a:lnSpc>
              <a:buAutoNum type="arabicPeriod"/>
              <a:defRPr/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X, Y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방향의 모션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228600" indent="-228600" algn="just">
              <a:lnSpc>
                <a:spcPct val="150000"/>
              </a:lnSpc>
              <a:buAutoNum type="arabicPeriod"/>
              <a:defRPr/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Dominant Motion(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가장 주요한 움직임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B3B6BBC-535B-632C-C4CE-4E6728C6A1EB}"/>
              </a:ext>
            </a:extLst>
          </p:cNvPr>
          <p:cNvGrpSpPr/>
          <p:nvPr/>
        </p:nvGrpSpPr>
        <p:grpSpPr>
          <a:xfrm>
            <a:off x="7721600" y="1793027"/>
            <a:ext cx="2451100" cy="2142958"/>
            <a:chOff x="8458200" y="1511300"/>
            <a:chExt cx="2451100" cy="2142958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2D88C07C-B1C3-F60A-3361-DCFD8E653639}"/>
                </a:ext>
              </a:extLst>
            </p:cNvPr>
            <p:cNvCxnSpPr/>
            <p:nvPr/>
          </p:nvCxnSpPr>
          <p:spPr>
            <a:xfrm flipV="1">
              <a:off x="8458200" y="1511300"/>
              <a:ext cx="0" cy="2142958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CB23B6D4-D4D5-FC22-28B8-79745574DBAA}"/>
                </a:ext>
              </a:extLst>
            </p:cNvPr>
            <p:cNvCxnSpPr/>
            <p:nvPr/>
          </p:nvCxnSpPr>
          <p:spPr>
            <a:xfrm>
              <a:off x="8458200" y="3654258"/>
              <a:ext cx="2451100" cy="0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A998E35-BF9F-706C-E90E-71C5CB8B5263}"/>
              </a:ext>
            </a:extLst>
          </p:cNvPr>
          <p:cNvCxnSpPr/>
          <p:nvPr/>
        </p:nvCxnSpPr>
        <p:spPr>
          <a:xfrm flipV="1">
            <a:off x="7741921" y="1840485"/>
            <a:ext cx="2082800" cy="2082800"/>
          </a:xfrm>
          <a:prstGeom prst="straightConnector1">
            <a:avLst/>
          </a:prstGeom>
          <a:ln w="38100">
            <a:solidFill>
              <a:srgbClr val="7E72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2801B89-8A2B-7D27-2960-3C0406EF83A5}"/>
              </a:ext>
            </a:extLst>
          </p:cNvPr>
          <p:cNvSpPr txBox="1"/>
          <p:nvPr/>
        </p:nvSpPr>
        <p:spPr>
          <a:xfrm>
            <a:off x="7280256" y="1789574"/>
            <a:ext cx="461665" cy="113107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/>
              <a:t> y-motion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DA5836-4281-A487-6022-2987D1C3D080}"/>
              </a:ext>
            </a:extLst>
          </p:cNvPr>
          <p:cNvSpPr txBox="1"/>
          <p:nvPr/>
        </p:nvSpPr>
        <p:spPr>
          <a:xfrm>
            <a:off x="9025714" y="4031688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X-motion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B34A0-1C44-5072-4E47-F140AE8F81DF}"/>
              </a:ext>
            </a:extLst>
          </p:cNvPr>
          <p:cNvSpPr txBox="1"/>
          <p:nvPr/>
        </p:nvSpPr>
        <p:spPr>
          <a:xfrm>
            <a:off x="9929724" y="1612635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6D50FF"/>
                </a:solidFill>
              </a:rPr>
              <a:t>motion</a:t>
            </a:r>
            <a:endParaRPr lang="ko-KR" altLang="en-US" dirty="0">
              <a:solidFill>
                <a:srgbClr val="6D5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2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Optical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Flow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B6CF48-6B06-B90E-C373-4D9535D4AD87}"/>
              </a:ext>
            </a:extLst>
          </p:cNvPr>
          <p:cNvSpPr/>
          <p:nvPr/>
        </p:nvSpPr>
        <p:spPr>
          <a:xfrm>
            <a:off x="998061" y="1979036"/>
            <a:ext cx="5097939" cy="2722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[Optical Flow]</a:t>
            </a:r>
          </a:p>
          <a:p>
            <a:pPr algn="just">
              <a:lnSpc>
                <a:spcPct val="150000"/>
              </a:lnSpc>
              <a:defRPr/>
            </a:pP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시간에 따라 변하는 이미지의 밝기 패턴을 기반으로 한 픽셀 이동 벡터 필드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빛의 패턴의 가시적인 움직임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각 픽셀이 어떻게 이동하는지 나타내는 벡터로 구성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4D79D1-1503-2E04-B06D-37D1AB8D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053" y="1979036"/>
            <a:ext cx="5344635" cy="289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2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Optical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Flow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B6CF48-6B06-B90E-C373-4D9535D4AD87}"/>
              </a:ext>
            </a:extLst>
          </p:cNvPr>
          <p:cNvSpPr/>
          <p:nvPr/>
        </p:nvSpPr>
        <p:spPr>
          <a:xfrm>
            <a:off x="998061" y="1979036"/>
            <a:ext cx="5097939" cy="2722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[Optical Flow]</a:t>
            </a:r>
          </a:p>
          <a:p>
            <a:pPr algn="just">
              <a:lnSpc>
                <a:spcPct val="150000"/>
              </a:lnSpc>
              <a:defRPr/>
            </a:pP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시간에 따라 변하는 이미지의 밝기 패턴을 기반으로 한 픽셀 이동 벡터 필드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빛의 패턴의 가시적인 움직임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각 픽셀이 어떻게 이동하는지 나타내는 벡터로 구성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4D79D1-1503-2E04-B06D-37D1AB8D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053" y="1979036"/>
            <a:ext cx="5344635" cy="289992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C80A8D9-235C-0C97-DCDF-B50E06D5F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053" y="1979037"/>
            <a:ext cx="5344635" cy="289992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EF052B2-555F-BFE7-1804-D4F6F58616AC}"/>
              </a:ext>
            </a:extLst>
          </p:cNvPr>
          <p:cNvSpPr/>
          <p:nvPr/>
        </p:nvSpPr>
        <p:spPr>
          <a:xfrm>
            <a:off x="264901" y="5471564"/>
            <a:ext cx="11662197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rgbClr val="6D50FF"/>
                </a:solidFill>
              </a:rPr>
              <a:t>핵심</a:t>
            </a:r>
            <a:r>
              <a:rPr lang="en-US" altLang="ko-KR" b="1" dirty="0">
                <a:solidFill>
                  <a:srgbClr val="6D50FF"/>
                </a:solidFill>
              </a:rPr>
              <a:t>!! t Frame</a:t>
            </a:r>
            <a:r>
              <a:rPr lang="ko-KR" altLang="en-US" b="1" dirty="0">
                <a:solidFill>
                  <a:srgbClr val="6D50FF"/>
                </a:solidFill>
              </a:rPr>
              <a:t>의 어떤 픽셀이 </a:t>
            </a:r>
            <a:r>
              <a:rPr lang="en-US" altLang="ko-KR" b="1" dirty="0">
                <a:solidFill>
                  <a:srgbClr val="6D50FF"/>
                </a:solidFill>
              </a:rPr>
              <a:t>t+1 Frame</a:t>
            </a:r>
            <a:r>
              <a:rPr lang="ko-KR" altLang="en-US" b="1" dirty="0">
                <a:solidFill>
                  <a:srgbClr val="6D50FF"/>
                </a:solidFill>
              </a:rPr>
              <a:t>의 어떤 픽셀과 대응 되는지 알아야 </a:t>
            </a:r>
            <a:r>
              <a:rPr lang="en-US" altLang="ko-KR" b="1" dirty="0">
                <a:solidFill>
                  <a:srgbClr val="6D50FF"/>
                </a:solidFill>
              </a:rPr>
              <a:t>motion</a:t>
            </a:r>
            <a:r>
              <a:rPr lang="ko-KR" altLang="en-US" b="1" dirty="0">
                <a:solidFill>
                  <a:srgbClr val="6D50FF"/>
                </a:solidFill>
              </a:rPr>
              <a:t> </a:t>
            </a:r>
            <a:r>
              <a:rPr lang="en-US" altLang="ko-KR" b="1" dirty="0">
                <a:solidFill>
                  <a:srgbClr val="6D50FF"/>
                </a:solidFill>
              </a:rPr>
              <a:t>vector</a:t>
            </a:r>
            <a:r>
              <a:rPr lang="ko-KR" altLang="en-US" b="1" dirty="0">
                <a:solidFill>
                  <a:srgbClr val="6D50FF"/>
                </a:solidFill>
              </a:rPr>
              <a:t>를 구할 수 있음</a:t>
            </a:r>
            <a:endParaRPr lang="en-US" altLang="ko-KR" dirty="0">
              <a:solidFill>
                <a:srgbClr val="6D5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086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Optical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Flow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_</a:t>
            </a:r>
            <a:r>
              <a:rPr lang="ko-KR" altLang="en-US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필요 가정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9970D3-59D9-1125-F335-D4C7F72E746B}"/>
              </a:ext>
            </a:extLst>
          </p:cNvPr>
          <p:cNvSpPr/>
          <p:nvPr/>
        </p:nvSpPr>
        <p:spPr>
          <a:xfrm>
            <a:off x="1055210" y="1469407"/>
            <a:ext cx="7161690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[color/brightness constancy] – 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밝기 </a:t>
            </a:r>
            <a:r>
              <a:rPr lang="ko-KR" altLang="en-US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향상성</a:t>
            </a: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연속한 두 영상에 나타난 물체의 같은 점은 </a:t>
            </a:r>
            <a:r>
              <a:rPr lang="ko-KR" altLang="en-US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명암값이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같거나 </a:t>
            </a:r>
            <a:r>
              <a:rPr lang="ko-KR" altLang="en-US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비슷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FA1BBBA-3089-613F-5237-0A6BB507DF8A}"/>
              </a:ext>
            </a:extLst>
          </p:cNvPr>
          <p:cNvGrpSpPr/>
          <p:nvPr/>
        </p:nvGrpSpPr>
        <p:grpSpPr>
          <a:xfrm>
            <a:off x="2021813" y="2687410"/>
            <a:ext cx="8148374" cy="3210373"/>
            <a:chOff x="2108760" y="2573110"/>
            <a:chExt cx="8148374" cy="321037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050B58B-5522-19F9-2092-0104C2ABF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98865" y="2754111"/>
              <a:ext cx="4258269" cy="284837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C73D304-CB9F-B132-B969-CA8E2268A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8760" y="2573110"/>
              <a:ext cx="3334215" cy="32103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4339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Optical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Flow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_</a:t>
            </a:r>
            <a:r>
              <a:rPr lang="ko-KR" altLang="en-US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필요 가정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9970D3-59D9-1125-F335-D4C7F72E746B}"/>
              </a:ext>
            </a:extLst>
          </p:cNvPr>
          <p:cNvSpPr/>
          <p:nvPr/>
        </p:nvSpPr>
        <p:spPr>
          <a:xfrm>
            <a:off x="1055210" y="1469407"/>
            <a:ext cx="10781190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[small motion] – 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광학 흐름 일관성</a:t>
            </a: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</a:rPr>
              <a:t>Frame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간 움직임이 작아서 어떤 픽셀 점은 멀리 움직이지 않음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sym typeface="Wingdings" panose="05000000000000000000" pitchFamily="2" charset="2"/>
              </a:rPr>
              <a:t>	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sym typeface="Wingdings" panose="05000000000000000000" pitchFamily="2" charset="2"/>
              </a:rPr>
              <a:t>움직임이 있는 픽셀 값들의 차이가 작거나 픽셀 값이 변하지 않는 점들도 존재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AC9C7B8-A52E-CED3-17CA-5C2C9F48E68C}"/>
              </a:ext>
            </a:extLst>
          </p:cNvPr>
          <p:cNvGrpSpPr/>
          <p:nvPr/>
        </p:nvGrpSpPr>
        <p:grpSpPr>
          <a:xfrm>
            <a:off x="2021813" y="2928710"/>
            <a:ext cx="8148374" cy="3210373"/>
            <a:chOff x="2021813" y="2928710"/>
            <a:chExt cx="8148374" cy="321037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FA1BBBA-3089-613F-5237-0A6BB507DF8A}"/>
                </a:ext>
              </a:extLst>
            </p:cNvPr>
            <p:cNvGrpSpPr/>
            <p:nvPr/>
          </p:nvGrpSpPr>
          <p:grpSpPr>
            <a:xfrm>
              <a:off x="2021813" y="2928710"/>
              <a:ext cx="8148374" cy="3210373"/>
              <a:chOff x="2108760" y="2573110"/>
              <a:chExt cx="8148374" cy="3210373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8050B58B-5522-19F9-2092-0104C2ABFC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98865" y="2754111"/>
                <a:ext cx="4258269" cy="2848373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C73D304-CB9F-B132-B969-CA8E2268A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8760" y="2573110"/>
                <a:ext cx="3334215" cy="3210373"/>
              </a:xfrm>
              <a:prstGeom prst="rect">
                <a:avLst/>
              </a:prstGeom>
            </p:spPr>
          </p:pic>
        </p:grp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A33CD9B3-F6E9-8EAC-FF37-9182F88E41DA}"/>
                </a:ext>
              </a:extLst>
            </p:cNvPr>
            <p:cNvSpPr/>
            <p:nvPr/>
          </p:nvSpPr>
          <p:spPr>
            <a:xfrm>
              <a:off x="6756400" y="3670300"/>
              <a:ext cx="876300" cy="5842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48915AA-0595-709C-FF96-D0AE57469B12}"/>
                </a:ext>
              </a:extLst>
            </p:cNvPr>
            <p:cNvSpPr/>
            <p:nvPr/>
          </p:nvSpPr>
          <p:spPr>
            <a:xfrm>
              <a:off x="8940800" y="3670300"/>
              <a:ext cx="876300" cy="5842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6AFBA215-3BA8-0DF9-0ACD-2F9E95F57B53}"/>
                </a:ext>
              </a:extLst>
            </p:cNvPr>
            <p:cNvCxnSpPr>
              <a:stCxn id="3" idx="6"/>
              <a:endCxn id="10" idx="2"/>
            </p:cNvCxnSpPr>
            <p:nvPr/>
          </p:nvCxnSpPr>
          <p:spPr>
            <a:xfrm>
              <a:off x="7632700" y="3962400"/>
              <a:ext cx="13081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366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Optical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Flow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_</a:t>
            </a:r>
            <a:r>
              <a:rPr lang="ko-KR" altLang="en-US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필요 가정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4EE223-2B60-F8BC-ECE4-B6645A7186D2}"/>
                  </a:ext>
                </a:extLst>
              </p:cNvPr>
              <p:cNvSpPr txBox="1"/>
              <p:nvPr/>
            </p:nvSpPr>
            <p:spPr>
              <a:xfrm>
                <a:off x="1625600" y="1676400"/>
                <a:ext cx="56450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d>
                  </m:oMath>
                </a14:m>
                <a:r>
                  <a:rPr lang="en-US" altLang="ko-KR" b="0" dirty="0"/>
                  <a:t> - </a:t>
                </a:r>
                <a:r>
                  <a:rPr lang="ko-KR" altLang="en-US" dirty="0"/>
                  <a:t>밝기 </a:t>
                </a:r>
                <a:r>
                  <a:rPr lang="ko-KR" altLang="en-US" dirty="0" err="1"/>
                  <a:t>향상성</a:t>
                </a:r>
                <a:r>
                  <a:rPr lang="ko-KR" altLang="en-US" dirty="0"/>
                  <a:t> 가정</a:t>
                </a:r>
                <a:endParaRPr lang="en-US" altLang="ko-KR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4EE223-2B60-F8BC-ECE4-B6645A718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00" y="1676400"/>
                <a:ext cx="5645007" cy="276999"/>
              </a:xfrm>
              <a:prstGeom prst="rect">
                <a:avLst/>
              </a:prstGeom>
              <a:blipFill>
                <a:blip r:embed="rId2"/>
                <a:stretch>
                  <a:fillRect l="-1944" t="-28889" r="-1620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085E96-2B88-D868-C3BC-4002C006BB9A}"/>
                  </a:ext>
                </a:extLst>
              </p:cNvPr>
              <p:cNvSpPr txBox="1"/>
              <p:nvPr/>
            </p:nvSpPr>
            <p:spPr>
              <a:xfrm>
                <a:off x="1544039" y="2413000"/>
                <a:ext cx="6729022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085E96-2B88-D868-C3BC-4002C006B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39" y="2413000"/>
                <a:ext cx="6729022" cy="5740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F0A7EC-AC23-D98D-DE56-579E4E8380E9}"/>
                  </a:ext>
                </a:extLst>
              </p:cNvPr>
              <p:cNvSpPr txBox="1"/>
              <p:nvPr/>
            </p:nvSpPr>
            <p:spPr>
              <a:xfrm>
                <a:off x="1544039" y="3345004"/>
                <a:ext cx="6729022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F0A7EC-AC23-D98D-DE56-579E4E83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39" y="3345004"/>
                <a:ext cx="6729022" cy="5740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15A66D-A3FD-F175-071A-6C8C700AC04E}"/>
                  </a:ext>
                </a:extLst>
              </p:cNvPr>
              <p:cNvSpPr txBox="1"/>
              <p:nvPr/>
            </p:nvSpPr>
            <p:spPr>
              <a:xfrm>
                <a:off x="1544039" y="4277008"/>
                <a:ext cx="8458661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 −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small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motion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정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15A66D-A3FD-F175-071A-6C8C700AC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39" y="4277008"/>
                <a:ext cx="8458661" cy="5740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191A5F-6B8A-AE0D-9B64-6250E695EAF6}"/>
                  </a:ext>
                </a:extLst>
              </p:cNvPr>
              <p:cNvSpPr txBox="1"/>
              <p:nvPr/>
            </p:nvSpPr>
            <p:spPr>
              <a:xfrm>
                <a:off x="1544039" y="5299924"/>
                <a:ext cx="2723886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191A5F-6B8A-AE0D-9B64-6250E695E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39" y="5299924"/>
                <a:ext cx="2723886" cy="5740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20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Optical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Flow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_</a:t>
            </a:r>
            <a:r>
              <a:rPr lang="ko-KR" altLang="en-US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필요 가정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191A5F-6B8A-AE0D-9B64-6250E695EAF6}"/>
                  </a:ext>
                </a:extLst>
              </p:cNvPr>
              <p:cNvSpPr txBox="1"/>
              <p:nvPr/>
            </p:nvSpPr>
            <p:spPr>
              <a:xfrm>
                <a:off x="1544039" y="1566124"/>
                <a:ext cx="2723886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191A5F-6B8A-AE0D-9B64-6250E695E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39" y="1566124"/>
                <a:ext cx="2723886" cy="5740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113EA3-C31C-EBE0-B6B5-F980535CE6D7}"/>
                  </a:ext>
                </a:extLst>
              </p:cNvPr>
              <p:cNvSpPr txBox="1"/>
              <p:nvPr/>
            </p:nvSpPr>
            <p:spPr>
              <a:xfrm>
                <a:off x="1544039" y="2569424"/>
                <a:ext cx="2455352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113EA3-C31C-EBE0-B6B5-F980535CE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39" y="2569424"/>
                <a:ext cx="2455352" cy="5740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9618CA-4D6E-1486-3F7A-E4BB861DFBCF}"/>
                  </a:ext>
                </a:extLst>
              </p:cNvPr>
              <p:cNvSpPr txBox="1"/>
              <p:nvPr/>
            </p:nvSpPr>
            <p:spPr>
              <a:xfrm>
                <a:off x="1544039" y="3572724"/>
                <a:ext cx="2195666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9618CA-4D6E-1486-3F7A-E4BB861DF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039" y="3572724"/>
                <a:ext cx="2195666" cy="5740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화살표: 왼쪽으로 구부러짐 10">
            <a:extLst>
              <a:ext uri="{FF2B5EF4-FFF2-40B4-BE49-F238E27FC236}">
                <a16:creationId xmlns:a16="http://schemas.microsoft.com/office/drawing/2014/main" id="{85430B22-EB22-BFC2-DA33-C46A07E5743F}"/>
              </a:ext>
            </a:extLst>
          </p:cNvPr>
          <p:cNvSpPr/>
          <p:nvPr/>
        </p:nvSpPr>
        <p:spPr>
          <a:xfrm>
            <a:off x="4737100" y="2856425"/>
            <a:ext cx="279400" cy="1004375"/>
          </a:xfrm>
          <a:prstGeom prst="curvedLeftArrow">
            <a:avLst/>
          </a:prstGeom>
          <a:noFill/>
          <a:ln>
            <a:solidFill>
              <a:srgbClr val="7E72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35545-CF4F-9710-397F-8F3A0AAE40E9}"/>
                  </a:ext>
                </a:extLst>
              </p:cNvPr>
              <p:cNvSpPr txBox="1"/>
              <p:nvPr/>
            </p:nvSpPr>
            <p:spPr>
              <a:xfrm>
                <a:off x="5132221" y="3046811"/>
                <a:ext cx="1626535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35545-CF4F-9710-397F-8F3A0AAE4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221" y="3046811"/>
                <a:ext cx="1626535" cy="525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9B3A1E-4883-CB06-82EB-93BFF19C72AA}"/>
                  </a:ext>
                </a:extLst>
              </p:cNvPr>
              <p:cNvSpPr txBox="1"/>
              <p:nvPr/>
            </p:nvSpPr>
            <p:spPr>
              <a:xfrm>
                <a:off x="7175502" y="3071610"/>
                <a:ext cx="922817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9B3A1E-4883-CB06-82EB-93BFF19C7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2" y="3071610"/>
                <a:ext cx="922817" cy="5740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17876D-7D2D-67C3-EA82-C102D440874B}"/>
              </a:ext>
            </a:extLst>
          </p:cNvPr>
          <p:cNvSpPr/>
          <p:nvPr/>
        </p:nvSpPr>
        <p:spPr>
          <a:xfrm>
            <a:off x="8098319" y="3101635"/>
            <a:ext cx="2159002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</a:rPr>
              <a:t>: Gradient vector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A762FFD-F8F4-B4FF-8FF8-11C8C58101F7}"/>
              </a:ext>
            </a:extLst>
          </p:cNvPr>
          <p:cNvGrpSpPr/>
          <p:nvPr/>
        </p:nvGrpSpPr>
        <p:grpSpPr>
          <a:xfrm>
            <a:off x="2293143" y="4717874"/>
            <a:ext cx="7605713" cy="574132"/>
            <a:chOff x="344487" y="4871189"/>
            <a:chExt cx="7605713" cy="57413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7F121AB-B839-AB29-355E-21E869246674}"/>
                </a:ext>
              </a:extLst>
            </p:cNvPr>
            <p:cNvSpPr/>
            <p:nvPr/>
          </p:nvSpPr>
          <p:spPr>
            <a:xfrm>
              <a:off x="344487" y="4931045"/>
              <a:ext cx="3632201" cy="454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en-US" altLang="ko-KR" b="1" dirty="0">
                  <a:solidFill>
                    <a:srgbClr val="6D50FF"/>
                  </a:solidFill>
                </a:rPr>
                <a:t>Gradient </a:t>
              </a:r>
              <a:r>
                <a:rPr lang="ko-KR" altLang="en-US" b="1" dirty="0">
                  <a:solidFill>
                    <a:srgbClr val="6D50FF"/>
                  </a:solidFill>
                </a:rPr>
                <a:t>를 구성하는 세 개의 값</a:t>
              </a:r>
              <a:endParaRPr lang="en-US" altLang="ko-KR" b="1" dirty="0">
                <a:solidFill>
                  <a:srgbClr val="6D50FF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FAD3209-BCA9-98FD-D3BC-576520BD9A22}"/>
                    </a:ext>
                  </a:extLst>
                </p:cNvPr>
                <p:cNvSpPr txBox="1"/>
                <p:nvPr/>
              </p:nvSpPr>
              <p:spPr>
                <a:xfrm>
                  <a:off x="3882753" y="4871189"/>
                  <a:ext cx="1348125" cy="5741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num>
                          <m:den>
                            <m:r>
                              <a:rPr lang="ko-KR" altLang="en-US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den>
                        </m:f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ko-KR" b="1" i="1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num>
                          <m:den>
                            <m:r>
                              <a:rPr lang="ko-KR" altLang="en-US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den>
                        </m:f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ko-KR" b="1" i="1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num>
                          <m:den>
                            <m:r>
                              <a:rPr lang="ko-KR" altLang="en-US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den>
                        </m:f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ko-KR" b="1" dirty="0">
                    <a:solidFill>
                      <a:srgbClr val="6D50FF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FAD3209-BCA9-98FD-D3BC-576520BD9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2753" y="4871189"/>
                  <a:ext cx="1348125" cy="5741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C2B501A-1C60-DE70-A1E5-9D9CED42B666}"/>
                </a:ext>
              </a:extLst>
            </p:cNvPr>
            <p:cNvSpPr/>
            <p:nvPr/>
          </p:nvSpPr>
          <p:spPr>
            <a:xfrm>
              <a:off x="5192663" y="4931045"/>
              <a:ext cx="2757537" cy="454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ko-KR" altLang="en-US" b="1" dirty="0">
                  <a:solidFill>
                    <a:srgbClr val="6D50FF"/>
                  </a:solidFill>
                </a:rPr>
                <a:t>을 모두 구했다 하더라도 </a:t>
              </a:r>
              <a:endParaRPr lang="en-US" altLang="ko-KR" b="1" dirty="0">
                <a:solidFill>
                  <a:srgbClr val="6D50FF"/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5215C00-A703-1F35-D416-3732376E2B25}"/>
              </a:ext>
            </a:extLst>
          </p:cNvPr>
          <p:cNvGrpSpPr/>
          <p:nvPr/>
        </p:nvGrpSpPr>
        <p:grpSpPr>
          <a:xfrm>
            <a:off x="3536376" y="5600068"/>
            <a:ext cx="5119247" cy="526106"/>
            <a:chOff x="4333763" y="5600068"/>
            <a:chExt cx="5119247" cy="5261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D7691C7-D16E-5F67-C540-95E587C5CC0D}"/>
                    </a:ext>
                  </a:extLst>
                </p:cNvPr>
                <p:cNvSpPr txBox="1"/>
                <p:nvPr/>
              </p:nvSpPr>
              <p:spPr>
                <a:xfrm>
                  <a:off x="4333763" y="5600068"/>
                  <a:ext cx="1678345" cy="5261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𝒅𝒙</m:t>
                            </m:r>
                          </m:num>
                          <m:den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US" altLang="ko-KR" b="1" i="1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𝒅𝒚</m:t>
                            </m:r>
                          </m:num>
                          <m:den>
                            <m:r>
                              <a:rPr lang="en-US" altLang="ko-KR" b="1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ko-KR" b="1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ko-KR" b="1" dirty="0">
                    <a:solidFill>
                      <a:srgbClr val="6D50FF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D7691C7-D16E-5F67-C540-95E587C5C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763" y="5600068"/>
                  <a:ext cx="1678345" cy="5261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476BAD7-2744-83B7-7C26-2F2C2A27D8C4}"/>
                </a:ext>
              </a:extLst>
            </p:cNvPr>
            <p:cNvSpPr/>
            <p:nvPr/>
          </p:nvSpPr>
          <p:spPr>
            <a:xfrm>
              <a:off x="5820809" y="5635878"/>
              <a:ext cx="3632201" cy="454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ko-KR" altLang="en-US" b="1" dirty="0" err="1">
                  <a:solidFill>
                    <a:srgbClr val="6D50FF"/>
                  </a:solidFill>
                </a:rPr>
                <a:t>를</a:t>
              </a:r>
              <a:r>
                <a:rPr lang="ko-KR" altLang="en-US" b="1" dirty="0">
                  <a:solidFill>
                    <a:srgbClr val="6D50FF"/>
                  </a:solidFill>
                </a:rPr>
                <a:t> 유일한 값으로 결정할 수 없음</a:t>
              </a:r>
              <a:endParaRPr lang="en-US" altLang="ko-KR" b="1" dirty="0">
                <a:solidFill>
                  <a:srgbClr val="6D5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1468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Optical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Flow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_</a:t>
            </a:r>
            <a:r>
              <a:rPr lang="ko-KR" altLang="en-US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필요 가정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EF6FCD0-C6AF-6680-7796-79DFCA8CF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944" y="1363456"/>
            <a:ext cx="4382112" cy="29626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974B26-B522-B39B-A341-E95351E649DC}"/>
                  </a:ext>
                </a:extLst>
              </p:cNvPr>
              <p:cNvSpPr txBox="1"/>
              <p:nvPr/>
            </p:nvSpPr>
            <p:spPr>
              <a:xfrm>
                <a:off x="2533454" y="4507302"/>
                <a:ext cx="7125092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3+1, 5,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3,5,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−6=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974B26-B522-B39B-A341-E95351E64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454" y="4507302"/>
                <a:ext cx="7125092" cy="526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565387-BE5C-8DFC-B1CE-F9D1CD6F30C3}"/>
                  </a:ext>
                </a:extLst>
              </p:cNvPr>
              <p:cNvSpPr txBox="1"/>
              <p:nvPr/>
            </p:nvSpPr>
            <p:spPr>
              <a:xfrm>
                <a:off x="2619720" y="5231202"/>
                <a:ext cx="6952416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3, 5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7−6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565387-BE5C-8DFC-B1CE-F9D1CD6F3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720" y="5231202"/>
                <a:ext cx="6952416" cy="5740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59A817-E297-367C-59CD-1661F18E70B0}"/>
                  </a:ext>
                </a:extLst>
              </p:cNvPr>
              <p:cNvSpPr txBox="1"/>
              <p:nvPr/>
            </p:nvSpPr>
            <p:spPr>
              <a:xfrm>
                <a:off x="2620168" y="6002422"/>
                <a:ext cx="6951968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3, 5, 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3,5,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8−6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59A817-E297-367C-59CD-1661F18E7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168" y="6002422"/>
                <a:ext cx="6951968" cy="526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50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Optical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Flow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_</a:t>
            </a:r>
            <a:r>
              <a:rPr lang="ko-KR" altLang="en-US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필요 가정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974B26-B522-B39B-A341-E95351E649DC}"/>
                  </a:ext>
                </a:extLst>
              </p:cNvPr>
              <p:cNvSpPr txBox="1"/>
              <p:nvPr/>
            </p:nvSpPr>
            <p:spPr>
              <a:xfrm>
                <a:off x="844354" y="3261397"/>
                <a:ext cx="7125092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3+1, 5,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3,5,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−6=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974B26-B522-B39B-A341-E95351E64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54" y="3261397"/>
                <a:ext cx="7125092" cy="526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565387-BE5C-8DFC-B1CE-F9D1CD6F30C3}"/>
                  </a:ext>
                </a:extLst>
              </p:cNvPr>
              <p:cNvSpPr txBox="1"/>
              <p:nvPr/>
            </p:nvSpPr>
            <p:spPr>
              <a:xfrm>
                <a:off x="930620" y="3985297"/>
                <a:ext cx="6952416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3, 5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7−6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565387-BE5C-8DFC-B1CE-F9D1CD6F3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20" y="3985297"/>
                <a:ext cx="6952416" cy="5740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59A817-E297-367C-59CD-1661F18E70B0}"/>
                  </a:ext>
                </a:extLst>
              </p:cNvPr>
              <p:cNvSpPr txBox="1"/>
              <p:nvPr/>
            </p:nvSpPr>
            <p:spPr>
              <a:xfrm>
                <a:off x="931068" y="4756517"/>
                <a:ext cx="6951968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3, 5, 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3,5,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8−6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59A817-E297-367C-59CD-1661F18E7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68" y="4756517"/>
                <a:ext cx="6951968" cy="526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AA92DD0E-56BE-871E-1DB3-2BE0CE895FEA}"/>
              </a:ext>
            </a:extLst>
          </p:cNvPr>
          <p:cNvGrpSpPr/>
          <p:nvPr/>
        </p:nvGrpSpPr>
        <p:grpSpPr>
          <a:xfrm>
            <a:off x="8473776" y="2902317"/>
            <a:ext cx="3261024" cy="2778834"/>
            <a:chOff x="8473776" y="2902317"/>
            <a:chExt cx="3261024" cy="277883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D8022E1-868F-F880-6F9A-02943E3F4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73776" y="2902317"/>
              <a:ext cx="3134024" cy="2778834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43A91EE-4661-2E6B-E7C4-35E782E1323D}"/>
                </a:ext>
              </a:extLst>
            </p:cNvPr>
            <p:cNvSpPr/>
            <p:nvPr/>
          </p:nvSpPr>
          <p:spPr>
            <a:xfrm>
              <a:off x="10236200" y="4324350"/>
              <a:ext cx="1498600" cy="469900"/>
            </a:xfrm>
            <a:prstGeom prst="rect">
              <a:avLst/>
            </a:prstGeom>
            <a:solidFill>
              <a:srgbClr val="FCF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95A372B-404C-37AC-74E8-271F8EF49857}"/>
                </a:ext>
              </a:extLst>
            </p:cNvPr>
            <p:cNvSpPr/>
            <p:nvPr/>
          </p:nvSpPr>
          <p:spPr>
            <a:xfrm>
              <a:off x="9856310" y="4421054"/>
              <a:ext cx="1878490" cy="454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en-US" altLang="ko-KR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-u + v + 2 = 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D64F8D-0FE6-4687-C494-265268CC3A10}"/>
                  </a:ext>
                </a:extLst>
              </p:cNvPr>
              <p:cNvSpPr txBox="1"/>
              <p:nvPr/>
            </p:nvSpPr>
            <p:spPr>
              <a:xfrm>
                <a:off x="5150839" y="1874105"/>
                <a:ext cx="2195666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D64F8D-0FE6-4687-C494-265268CC3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839" y="1874105"/>
                <a:ext cx="2195666" cy="5740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28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Lucas - </a:t>
            </a:r>
            <a:r>
              <a:rPr lang="en-US" altLang="ko-KR" sz="2800" i="1" kern="0" dirty="0" err="1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Kanade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알고리즘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F6AC4D-5112-6CEB-CE9E-D081B43A1722}"/>
              </a:ext>
            </a:extLst>
          </p:cNvPr>
          <p:cNvSpPr/>
          <p:nvPr/>
        </p:nvSpPr>
        <p:spPr>
          <a:xfrm>
            <a:off x="2696130" y="1356736"/>
            <a:ext cx="6799739" cy="1568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전제조건</a:t>
            </a: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]</a:t>
            </a:r>
          </a:p>
          <a:p>
            <a:pPr marL="342900" indent="-342900" algn="ctr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밝기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향상성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342900" indent="-342900" algn="ctr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Frame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간 움직임이 작음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342900" indent="-342900" algn="ctr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픽셀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altLang="ko-KR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x,y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를 중심으로 하는 윈도우 영역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N(</a:t>
            </a:r>
            <a:r>
              <a:rPr lang="en-US" altLang="ko-KR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x,y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의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optical flow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는 같음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11CD789-61A0-C5F4-2D90-3EC72C2ABC02}"/>
              </a:ext>
            </a:extLst>
          </p:cNvPr>
          <p:cNvGrpSpPr/>
          <p:nvPr/>
        </p:nvGrpSpPr>
        <p:grpSpPr>
          <a:xfrm>
            <a:off x="4225639" y="3216230"/>
            <a:ext cx="4431142" cy="3410426"/>
            <a:chOff x="4225639" y="3216230"/>
            <a:chExt cx="4431142" cy="3410426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EC1943C-AEAD-8587-5F2B-E7AC25736F0A}"/>
                </a:ext>
              </a:extLst>
            </p:cNvPr>
            <p:cNvGrpSpPr/>
            <p:nvPr/>
          </p:nvGrpSpPr>
          <p:grpSpPr>
            <a:xfrm>
              <a:off x="4225639" y="3216230"/>
              <a:ext cx="4431142" cy="3410426"/>
              <a:chOff x="4225639" y="3216230"/>
              <a:chExt cx="4431142" cy="3410426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1647456-1E27-A46F-7BC5-D6B2DFA643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25639" y="3216230"/>
                <a:ext cx="4096322" cy="3410426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E8C236E7-5B71-9752-F3D4-EE82DB937818}"/>
                  </a:ext>
                </a:extLst>
              </p:cNvPr>
              <p:cNvSpPr/>
              <p:nvPr/>
            </p:nvSpPr>
            <p:spPr>
              <a:xfrm>
                <a:off x="7475681" y="3527094"/>
                <a:ext cx="1181100" cy="609600"/>
              </a:xfrm>
              <a:prstGeom prst="rect">
                <a:avLst/>
              </a:prstGeom>
              <a:solidFill>
                <a:srgbClr val="FCF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24DD481-0726-B401-A31A-014A0EFAEA3D}"/>
                  </a:ext>
                </a:extLst>
              </p:cNvPr>
              <p:cNvSpPr/>
              <p:nvPr/>
            </p:nvSpPr>
            <p:spPr>
              <a:xfrm>
                <a:off x="4641850" y="4441494"/>
                <a:ext cx="908050" cy="524206"/>
              </a:xfrm>
              <a:prstGeom prst="rect">
                <a:avLst/>
              </a:prstGeom>
              <a:solidFill>
                <a:srgbClr val="FCF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2D65FFE-D776-D1B9-CF0C-ED43E048994B}"/>
                    </a:ext>
                  </a:extLst>
                </p:cNvPr>
                <p:cNvSpPr txBox="1"/>
                <p:nvPr/>
              </p:nvSpPr>
              <p:spPr>
                <a:xfrm>
                  <a:off x="7412299" y="3605695"/>
                  <a:ext cx="76996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2D65FFE-D776-D1B9-CF0C-ED43E0489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299" y="3605695"/>
                  <a:ext cx="769962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369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AE84CC7-B479-F4A9-25AF-BC2F627FC022}"/>
                    </a:ext>
                  </a:extLst>
                </p:cNvPr>
                <p:cNvSpPr txBox="1"/>
                <p:nvPr/>
              </p:nvSpPr>
              <p:spPr>
                <a:xfrm>
                  <a:off x="4641850" y="4644444"/>
                  <a:ext cx="76996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AE84CC7-B479-F4A9-25AF-BC2F627FC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850" y="4644444"/>
                  <a:ext cx="769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299" r="-10236" b="-4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82454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Lucas - </a:t>
            </a:r>
            <a:r>
              <a:rPr lang="en-US" altLang="ko-KR" sz="2800" i="1" kern="0" dirty="0" err="1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Kanade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알고리즘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F6AC4D-5112-6CEB-CE9E-D081B43A1722}"/>
              </a:ext>
            </a:extLst>
          </p:cNvPr>
          <p:cNvSpPr/>
          <p:nvPr/>
        </p:nvSpPr>
        <p:spPr>
          <a:xfrm>
            <a:off x="2696130" y="1356736"/>
            <a:ext cx="6799739" cy="1568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전제조건</a:t>
            </a: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]</a:t>
            </a:r>
          </a:p>
          <a:p>
            <a:pPr marL="342900" indent="-342900" algn="ctr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밝기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향상성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342900" indent="-342900" algn="ctr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Frame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간 움직임이 작음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342900" indent="-342900" algn="ctr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픽셀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en-US" altLang="ko-KR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x,y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를 중심으로 하는 윈도우 영역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N(</a:t>
            </a:r>
            <a:r>
              <a:rPr lang="en-US" altLang="ko-KR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x,y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의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optical flow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는 같음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11CD789-61A0-C5F4-2D90-3EC72C2ABC02}"/>
              </a:ext>
            </a:extLst>
          </p:cNvPr>
          <p:cNvGrpSpPr/>
          <p:nvPr/>
        </p:nvGrpSpPr>
        <p:grpSpPr>
          <a:xfrm>
            <a:off x="4225639" y="3216230"/>
            <a:ext cx="4431142" cy="3410426"/>
            <a:chOff x="4225639" y="3216230"/>
            <a:chExt cx="4431142" cy="3410426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EC1943C-AEAD-8587-5F2B-E7AC25736F0A}"/>
                </a:ext>
              </a:extLst>
            </p:cNvPr>
            <p:cNvGrpSpPr/>
            <p:nvPr/>
          </p:nvGrpSpPr>
          <p:grpSpPr>
            <a:xfrm>
              <a:off x="4225639" y="3216230"/>
              <a:ext cx="4431142" cy="3410426"/>
              <a:chOff x="4225639" y="3216230"/>
              <a:chExt cx="4431142" cy="3410426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1647456-1E27-A46F-7BC5-D6B2DFA643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25639" y="3216230"/>
                <a:ext cx="4096322" cy="3410426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E8C236E7-5B71-9752-F3D4-EE82DB937818}"/>
                  </a:ext>
                </a:extLst>
              </p:cNvPr>
              <p:cNvSpPr/>
              <p:nvPr/>
            </p:nvSpPr>
            <p:spPr>
              <a:xfrm>
                <a:off x="7475681" y="3527094"/>
                <a:ext cx="1181100" cy="609600"/>
              </a:xfrm>
              <a:prstGeom prst="rect">
                <a:avLst/>
              </a:prstGeom>
              <a:solidFill>
                <a:srgbClr val="FCF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24DD481-0726-B401-A31A-014A0EFAEA3D}"/>
                  </a:ext>
                </a:extLst>
              </p:cNvPr>
              <p:cNvSpPr/>
              <p:nvPr/>
            </p:nvSpPr>
            <p:spPr>
              <a:xfrm>
                <a:off x="4641850" y="4441494"/>
                <a:ext cx="908050" cy="524206"/>
              </a:xfrm>
              <a:prstGeom prst="rect">
                <a:avLst/>
              </a:prstGeom>
              <a:solidFill>
                <a:srgbClr val="FCF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2D65FFE-D776-D1B9-CF0C-ED43E048994B}"/>
                    </a:ext>
                  </a:extLst>
                </p:cNvPr>
                <p:cNvSpPr txBox="1"/>
                <p:nvPr/>
              </p:nvSpPr>
              <p:spPr>
                <a:xfrm>
                  <a:off x="7412299" y="3605695"/>
                  <a:ext cx="76996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2D65FFE-D776-D1B9-CF0C-ED43E0489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299" y="3605695"/>
                  <a:ext cx="769962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369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AE84CC7-B479-F4A9-25AF-BC2F627FC022}"/>
                    </a:ext>
                  </a:extLst>
                </p:cNvPr>
                <p:cNvSpPr txBox="1"/>
                <p:nvPr/>
              </p:nvSpPr>
              <p:spPr>
                <a:xfrm>
                  <a:off x="4641850" y="4644444"/>
                  <a:ext cx="76996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AE84CC7-B479-F4A9-25AF-BC2F627FC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850" y="4644444"/>
                  <a:ext cx="7699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299" r="-10236" b="-4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5A0BBC2-2E3D-CDA6-CD76-6DA4B3109382}"/>
              </a:ext>
            </a:extLst>
          </p:cNvPr>
          <p:cNvGrpSpPr/>
          <p:nvPr/>
        </p:nvGrpSpPr>
        <p:grpSpPr>
          <a:xfrm>
            <a:off x="8066231" y="4188790"/>
            <a:ext cx="3271526" cy="1247905"/>
            <a:chOff x="8300477" y="3762809"/>
            <a:chExt cx="3271526" cy="12479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DF24F38-6740-5659-80EE-0DE1939BAB59}"/>
                    </a:ext>
                  </a:extLst>
                </p:cNvPr>
                <p:cNvSpPr txBox="1"/>
                <p:nvPr/>
              </p:nvSpPr>
              <p:spPr>
                <a:xfrm>
                  <a:off x="8321961" y="4285986"/>
                  <a:ext cx="20485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rgbClr val="6D5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6D5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rgbClr val="6D50F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solidFill>
                                      <a:srgbClr val="6D5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6D5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rgbClr val="6D50F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=1,2,…, </m:t>
                        </m:r>
                        <m:r>
                          <a:rPr lang="en-US" altLang="ko-KR" b="0" i="1" smtClean="0">
                            <a:solidFill>
                              <a:srgbClr val="6D5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ko-KR" altLang="en-US" dirty="0">
                    <a:solidFill>
                      <a:srgbClr val="6D50FF"/>
                    </a:solidFill>
                  </a:endParaRPr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DF24F38-6740-5659-80EE-0DE1939BA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961" y="4285986"/>
                  <a:ext cx="2048510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298" b="-311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888D63F-7B27-CDF3-9D22-D6A9D1917CBE}"/>
                    </a:ext>
                  </a:extLst>
                </p:cNvPr>
                <p:cNvSpPr txBox="1"/>
                <p:nvPr/>
              </p:nvSpPr>
              <p:spPr>
                <a:xfrm>
                  <a:off x="9606055" y="4697582"/>
                  <a:ext cx="68185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ko-KR" b="0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ko-KR" i="1" smtClean="0">
                                <a:solidFill>
                                  <a:srgbClr val="6D5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ko-KR" altLang="en-US" dirty="0">
                    <a:solidFill>
                      <a:srgbClr val="6D50FF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888D63F-7B27-CDF3-9D22-D6A9D1917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6055" y="4697582"/>
                  <a:ext cx="681853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49BDE5B-D25F-DE5A-DFDD-135CACB6CDC6}"/>
                </a:ext>
              </a:extLst>
            </p:cNvPr>
            <p:cNvSpPr/>
            <p:nvPr/>
          </p:nvSpPr>
          <p:spPr>
            <a:xfrm>
              <a:off x="8300477" y="3762809"/>
              <a:ext cx="3271526" cy="373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ko-KR" altLang="en-US" sz="1400" dirty="0">
                  <a:solidFill>
                    <a:srgbClr val="6D50FF"/>
                  </a:solidFill>
                </a:rPr>
                <a:t>같은 윈도우 영역에 있는 모든 픽셀</a:t>
              </a:r>
              <a:endParaRPr lang="en-US" altLang="ko-KR" sz="1400" dirty="0">
                <a:solidFill>
                  <a:srgbClr val="6D50FF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D41F1C1-9A0B-3B10-5E10-3B383F5AE8D3}"/>
                </a:ext>
              </a:extLst>
            </p:cNvPr>
            <p:cNvSpPr/>
            <p:nvPr/>
          </p:nvSpPr>
          <p:spPr>
            <a:xfrm>
              <a:off x="10370471" y="4212142"/>
              <a:ext cx="439426" cy="373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ko-KR" altLang="en-US" sz="1400" dirty="0">
                  <a:solidFill>
                    <a:srgbClr val="6D50FF"/>
                  </a:solidFill>
                </a:rPr>
                <a:t>은</a:t>
              </a:r>
              <a:endParaRPr lang="en-US" altLang="ko-KR" sz="1400" dirty="0">
                <a:solidFill>
                  <a:srgbClr val="6D50FF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C5C6620-CEF1-FFFA-3968-DC028BEA26C4}"/>
                </a:ext>
              </a:extLst>
            </p:cNvPr>
            <p:cNvSpPr/>
            <p:nvPr/>
          </p:nvSpPr>
          <p:spPr>
            <a:xfrm>
              <a:off x="8300477" y="4636829"/>
              <a:ext cx="3271526" cy="373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ko-KR" altLang="en-US" sz="1400" dirty="0">
                  <a:solidFill>
                    <a:srgbClr val="6D50FF"/>
                  </a:solidFill>
                </a:rPr>
                <a:t>같은 모션 벡터           </a:t>
              </a:r>
              <a:r>
                <a:rPr lang="ko-KR" altLang="en-US" sz="1400" dirty="0" err="1">
                  <a:solidFill>
                    <a:srgbClr val="6D50FF"/>
                  </a:solidFill>
                </a:rPr>
                <a:t>를</a:t>
              </a:r>
              <a:r>
                <a:rPr lang="ko-KR" altLang="en-US" sz="1400" dirty="0">
                  <a:solidFill>
                    <a:srgbClr val="6D50FF"/>
                  </a:solidFill>
                </a:rPr>
                <a:t> 갖음</a:t>
              </a:r>
              <a:endParaRPr lang="en-US" altLang="ko-KR" sz="1400" dirty="0">
                <a:solidFill>
                  <a:srgbClr val="6D5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2716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Lucas - </a:t>
            </a:r>
            <a:r>
              <a:rPr lang="en-US" altLang="ko-KR" sz="2800" i="1" kern="0" dirty="0" err="1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Kanade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알고리즘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2AB2A359-979F-DC09-95F1-52828AD11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19" y="3028878"/>
            <a:ext cx="6215199" cy="14161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7D12A27-A2D6-769D-BEA6-11A4A3CD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492" y="1538066"/>
            <a:ext cx="3475207" cy="45382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B57C74-7565-31CA-BBE9-07F3E011FC5F}"/>
                  </a:ext>
                </a:extLst>
              </p:cNvPr>
              <p:cNvSpPr txBox="1"/>
              <p:nvPr/>
            </p:nvSpPr>
            <p:spPr>
              <a:xfrm>
                <a:off x="1135825" y="2070496"/>
                <a:ext cx="2195666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B57C74-7565-31CA-BBE9-07F3E011F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825" y="2070496"/>
                <a:ext cx="2195666" cy="5740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435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Lucas - </a:t>
            </a:r>
            <a:r>
              <a:rPr lang="en-US" altLang="ko-KR" sz="2800" i="1" kern="0" dirty="0" err="1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Kanade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알고리즘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FCF11156-CD94-C726-E9F9-F7DD0745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72" y="2221760"/>
            <a:ext cx="2733652" cy="8969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5945E9-DA8E-8807-3D96-2CF08EB19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72" y="2868706"/>
            <a:ext cx="10785088" cy="211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03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Lucas - </a:t>
            </a:r>
            <a:r>
              <a:rPr lang="en-US" altLang="ko-KR" sz="2800" i="1" kern="0" dirty="0" err="1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Kanade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알고리즘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CB12A86-65FB-DA60-11AE-6EC845058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648" y="2031936"/>
            <a:ext cx="3130703" cy="12954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E55551-F70F-F2A4-7688-599A42E19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32" y="3429000"/>
            <a:ext cx="11297336" cy="195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69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A530A1-508C-E7DB-E270-518E4B68A25A}"/>
              </a:ext>
            </a:extLst>
          </p:cNvPr>
          <p:cNvSpPr txBox="1"/>
          <p:nvPr/>
        </p:nvSpPr>
        <p:spPr>
          <a:xfrm>
            <a:off x="331787" y="231344"/>
            <a:ext cx="45767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800" i="1" kern="0" dirty="0">
                <a:ln w="12700">
                  <a:noFill/>
                </a:ln>
                <a:solidFill>
                  <a:srgbClr val="6D50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Lucas - </a:t>
            </a:r>
            <a:r>
              <a:rPr lang="en-US" altLang="ko-KR" sz="2800" i="1" kern="0" dirty="0" err="1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Kanade</a:t>
            </a:r>
            <a:r>
              <a:rPr lang="en-US" altLang="ko-KR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sz="28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알고리즘</a:t>
            </a:r>
            <a:r>
              <a:rPr lang="en-US" altLang="ko-KR" sz="1600" i="1" kern="0" dirty="0">
                <a:ln w="12700">
                  <a:noFill/>
                </a:ln>
                <a:solidFill>
                  <a:srgbClr val="44546A">
                    <a:lumMod val="75000"/>
                  </a:srgbClr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B45A5-8257-CEA3-D800-EFDA62920C1D}"/>
              </a:ext>
            </a:extLst>
          </p:cNvPr>
          <p:cNvCxnSpPr>
            <a:cxnSpLocks/>
          </p:cNvCxnSpPr>
          <p:nvPr/>
        </p:nvCxnSpPr>
        <p:spPr>
          <a:xfrm>
            <a:off x="286544" y="292204"/>
            <a:ext cx="0" cy="540000"/>
          </a:xfrm>
          <a:prstGeom prst="line">
            <a:avLst/>
          </a:prstGeom>
          <a:ln w="1905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894706-C4E8-150B-FDB7-B84D5949CD91}"/>
              </a:ext>
            </a:extLst>
          </p:cNvPr>
          <p:cNvSpPr/>
          <p:nvPr/>
        </p:nvSpPr>
        <p:spPr>
          <a:xfrm>
            <a:off x="484414" y="2621823"/>
            <a:ext cx="5097939" cy="1614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장점</a:t>
            </a: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]</a:t>
            </a:r>
          </a:p>
          <a:p>
            <a:pPr algn="ctr">
              <a:lnSpc>
                <a:spcPct val="150000"/>
              </a:lnSpc>
              <a:defRPr/>
            </a:pP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코너와 같이 두드러지는 특징 점을 사용하여 흐름을 추적하기 때문에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연산량이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적음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AD16F4-ABA7-1300-1216-11BBC314057F}"/>
              </a:ext>
            </a:extLst>
          </p:cNvPr>
          <p:cNvSpPr/>
          <p:nvPr/>
        </p:nvSpPr>
        <p:spPr>
          <a:xfrm>
            <a:off x="6096000" y="2437156"/>
            <a:ext cx="5611586" cy="1983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단점</a:t>
            </a: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]</a:t>
            </a:r>
          </a:p>
          <a:p>
            <a:pPr algn="ctr">
              <a:lnSpc>
                <a:spcPct val="150000"/>
              </a:lnSpc>
              <a:defRPr/>
            </a:pP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좁은 지역의 윈도우를 사용하기 때문에 그 윈도우보다 큰 움직임이 발생했을 경우 움직임을 계산하지 못함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특징 점을 사용하여 흐름을 추적하기 때문에 정확도가 낮음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B9C6B33-3A54-8841-96AE-F618933A3FF3}"/>
              </a:ext>
            </a:extLst>
          </p:cNvPr>
          <p:cNvCxnSpPr/>
          <p:nvPr/>
        </p:nvCxnSpPr>
        <p:spPr>
          <a:xfrm flipV="1">
            <a:off x="5582353" y="2437156"/>
            <a:ext cx="513647" cy="1983685"/>
          </a:xfrm>
          <a:prstGeom prst="line">
            <a:avLst/>
          </a:prstGeom>
          <a:ln w="38100">
            <a:solidFill>
              <a:srgbClr val="6D5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06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749</Words>
  <Application>Microsoft Office PowerPoint</Application>
  <PresentationFormat>와이드스크린</PresentationFormat>
  <Paragraphs>108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Tmon몬소리 Black</vt:lpstr>
      <vt:lpstr>맑은 고딕</vt:lpstr>
      <vt:lpstr>Arial</vt:lpstr>
      <vt:lpstr>Cambria Math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hyuna3589@gmail.com</cp:lastModifiedBy>
  <cp:revision>33</cp:revision>
  <dcterms:created xsi:type="dcterms:W3CDTF">2023-03-22T09:39:48Z</dcterms:created>
  <dcterms:modified xsi:type="dcterms:W3CDTF">2024-06-05T09:11:08Z</dcterms:modified>
</cp:coreProperties>
</file>