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92" r:id="rId4"/>
    <p:sldId id="294" r:id="rId5"/>
    <p:sldId id="284" r:id="rId6"/>
    <p:sldId id="282" r:id="rId7"/>
    <p:sldId id="283" r:id="rId8"/>
    <p:sldId id="268" r:id="rId9"/>
    <p:sldId id="286" r:id="rId10"/>
    <p:sldId id="287" r:id="rId11"/>
    <p:sldId id="270" r:id="rId12"/>
    <p:sldId id="272" r:id="rId13"/>
    <p:sldId id="288" r:id="rId14"/>
    <p:sldId id="289" r:id="rId15"/>
    <p:sldId id="290" r:id="rId16"/>
    <p:sldId id="291" r:id="rId17"/>
    <p:sldId id="295" r:id="rId18"/>
    <p:sldId id="296" r:id="rId19"/>
    <p:sldId id="28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3EC"/>
    <a:srgbClr val="A2A2A2"/>
    <a:srgbClr val="FF898C"/>
    <a:srgbClr val="FFFFFF"/>
    <a:srgbClr val="CA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56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94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16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59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85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30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16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05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64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15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79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2024-02-23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7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>
            <a:off x="4394348" y="6294909"/>
            <a:ext cx="3399083" cy="559163"/>
          </a:xfrm>
          <a:prstGeom prst="round2SameRect">
            <a:avLst>
              <a:gd name="adj1" fmla="val 3646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6661981" y="6466871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6021748" y="6465107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C65B237-EE2B-0200-5066-3B3F36ABE1BF}"/>
              </a:ext>
            </a:extLst>
          </p:cNvPr>
          <p:cNvGrpSpPr/>
          <p:nvPr/>
        </p:nvGrpSpPr>
        <p:grpSpPr>
          <a:xfrm>
            <a:off x="5275700" y="6398019"/>
            <a:ext cx="278315" cy="287115"/>
            <a:chOff x="401543" y="1092856"/>
            <a:chExt cx="278315" cy="287115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D4202FA5-0E5D-D30F-7384-6B16C001F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43" y="1193003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rgbClr val="6383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964E2FB-BC23-4849-7CE9-19BDD1A11B35}"/>
                </a:ext>
              </a:extLst>
            </p:cNvPr>
            <p:cNvSpPr/>
            <p:nvPr/>
          </p:nvSpPr>
          <p:spPr>
            <a:xfrm>
              <a:off x="502333" y="1092856"/>
              <a:ext cx="177525" cy="177525"/>
            </a:xfrm>
            <a:prstGeom prst="ellipse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F0D7412-8F86-780A-9C7B-A7770F1FFC62}"/>
              </a:ext>
            </a:extLst>
          </p:cNvPr>
          <p:cNvGrpSpPr/>
          <p:nvPr/>
        </p:nvGrpSpPr>
        <p:grpSpPr>
          <a:xfrm>
            <a:off x="7300431" y="6400048"/>
            <a:ext cx="241495" cy="283057"/>
            <a:chOff x="406154" y="3171863"/>
            <a:chExt cx="241495" cy="283057"/>
          </a:xfrm>
        </p:grpSpPr>
        <p:sp>
          <p:nvSpPr>
            <p:cNvPr id="8" name="Freeform 36">
              <a:extLst>
                <a:ext uri="{FF2B5EF4-FFF2-40B4-BE49-F238E27FC236}">
                  <a16:creationId xmlns:a16="http://schemas.microsoft.com/office/drawing/2014/main" id="{E8786195-68C8-D043-25CA-92A11274DF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154" y="3264184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6383E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3C4B27B-05A3-8255-7D14-7D1127762CD6}"/>
                </a:ext>
              </a:extLst>
            </p:cNvPr>
            <p:cNvSpPr/>
            <p:nvPr/>
          </p:nvSpPr>
          <p:spPr>
            <a:xfrm>
              <a:off x="470124" y="3171863"/>
              <a:ext cx="177525" cy="177525"/>
            </a:xfrm>
            <a:prstGeom prst="ellipse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3063483" y="242924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Q-Learning</a:t>
            </a:r>
            <a:endParaRPr lang="en-US" altLang="ko-KR" sz="4000" i="1" kern="0" dirty="0">
              <a:ln w="9525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005D5DC-1B18-2B6D-C447-9AEF695D7C60}"/>
              </a:ext>
            </a:extLst>
          </p:cNvPr>
          <p:cNvGrpSpPr/>
          <p:nvPr/>
        </p:nvGrpSpPr>
        <p:grpSpPr>
          <a:xfrm>
            <a:off x="4175510" y="6290983"/>
            <a:ext cx="1049382" cy="567017"/>
            <a:chOff x="4109235" y="6290983"/>
            <a:chExt cx="1049382" cy="567017"/>
          </a:xfrm>
        </p:grpSpPr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B0003D18-732D-F332-24B3-1324F4DD619E}"/>
                </a:ext>
              </a:extLst>
            </p:cNvPr>
            <p:cNvSpPr/>
            <p:nvPr/>
          </p:nvSpPr>
          <p:spPr>
            <a:xfrm>
              <a:off x="4373318" y="6290983"/>
              <a:ext cx="521216" cy="56701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6B3B0569-D42F-306F-4A42-0640E7D35B2B}"/>
                </a:ext>
              </a:extLst>
            </p:cNvPr>
            <p:cNvSpPr/>
            <p:nvPr/>
          </p:nvSpPr>
          <p:spPr>
            <a:xfrm rot="16200000">
              <a:off x="4109235" y="6593917"/>
              <a:ext cx="264083" cy="264083"/>
            </a:xfrm>
            <a:custGeom>
              <a:avLst/>
              <a:gdLst>
                <a:gd name="connsiteX0" fmla="*/ 263098 w 264083"/>
                <a:gd name="connsiteY0" fmla="*/ 263098 h 264083"/>
                <a:gd name="connsiteX1" fmla="*/ 264083 w 264083"/>
                <a:gd name="connsiteY1" fmla="*/ 264083 h 264083"/>
                <a:gd name="connsiteX2" fmla="*/ 253325 w 264083"/>
                <a:gd name="connsiteY2" fmla="*/ 264083 h 264083"/>
                <a:gd name="connsiteX3" fmla="*/ 0 w 264083"/>
                <a:gd name="connsiteY3" fmla="*/ 10769 h 264083"/>
                <a:gd name="connsiteX4" fmla="*/ 202263 w 264083"/>
                <a:gd name="connsiteY4" fmla="*/ 258938 h 264083"/>
                <a:gd name="connsiteX5" fmla="*/ 253305 w 264083"/>
                <a:gd name="connsiteY5" fmla="*/ 264083 h 264083"/>
                <a:gd name="connsiteX6" fmla="*/ 0 w 264083"/>
                <a:gd name="connsiteY6" fmla="*/ 264083 h 264083"/>
                <a:gd name="connsiteX7" fmla="*/ 0 w 264083"/>
                <a:gd name="connsiteY7" fmla="*/ 0 h 264083"/>
                <a:gd name="connsiteX8" fmla="*/ 986 w 264083"/>
                <a:gd name="connsiteY8" fmla="*/ 986 h 264083"/>
                <a:gd name="connsiteX9" fmla="*/ 0 w 264083"/>
                <a:gd name="connsiteY9" fmla="*/ 10769 h 26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4083" h="264083">
                  <a:moveTo>
                    <a:pt x="263098" y="263098"/>
                  </a:moveTo>
                  <a:lnTo>
                    <a:pt x="264083" y="264083"/>
                  </a:lnTo>
                  <a:lnTo>
                    <a:pt x="253325" y="264083"/>
                  </a:lnTo>
                  <a:close/>
                  <a:moveTo>
                    <a:pt x="0" y="10769"/>
                  </a:moveTo>
                  <a:cubicBezTo>
                    <a:pt x="0" y="133183"/>
                    <a:pt x="86832" y="235317"/>
                    <a:pt x="202263" y="258938"/>
                  </a:cubicBezTo>
                  <a:lnTo>
                    <a:pt x="253305" y="264083"/>
                  </a:lnTo>
                  <a:lnTo>
                    <a:pt x="0" y="264083"/>
                  </a:lnTo>
                  <a:close/>
                  <a:moveTo>
                    <a:pt x="0" y="0"/>
                  </a:moveTo>
                  <a:lnTo>
                    <a:pt x="986" y="986"/>
                  </a:lnTo>
                  <a:lnTo>
                    <a:pt x="0" y="10769"/>
                  </a:lnTo>
                  <a:close/>
                </a:path>
              </a:pathLst>
            </a:cu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4FEBA786-2C01-A8F9-1E49-1674747CD97F}"/>
                </a:ext>
              </a:extLst>
            </p:cNvPr>
            <p:cNvSpPr/>
            <p:nvPr/>
          </p:nvSpPr>
          <p:spPr>
            <a:xfrm rot="5400000" flipH="1">
              <a:off x="4894534" y="6593917"/>
              <a:ext cx="264083" cy="264083"/>
            </a:xfrm>
            <a:custGeom>
              <a:avLst/>
              <a:gdLst>
                <a:gd name="connsiteX0" fmla="*/ 263098 w 264083"/>
                <a:gd name="connsiteY0" fmla="*/ 263098 h 264083"/>
                <a:gd name="connsiteX1" fmla="*/ 264083 w 264083"/>
                <a:gd name="connsiteY1" fmla="*/ 264083 h 264083"/>
                <a:gd name="connsiteX2" fmla="*/ 253325 w 264083"/>
                <a:gd name="connsiteY2" fmla="*/ 264083 h 264083"/>
                <a:gd name="connsiteX3" fmla="*/ 0 w 264083"/>
                <a:gd name="connsiteY3" fmla="*/ 10769 h 264083"/>
                <a:gd name="connsiteX4" fmla="*/ 202263 w 264083"/>
                <a:gd name="connsiteY4" fmla="*/ 258938 h 264083"/>
                <a:gd name="connsiteX5" fmla="*/ 253305 w 264083"/>
                <a:gd name="connsiteY5" fmla="*/ 264083 h 264083"/>
                <a:gd name="connsiteX6" fmla="*/ 0 w 264083"/>
                <a:gd name="connsiteY6" fmla="*/ 264083 h 264083"/>
                <a:gd name="connsiteX7" fmla="*/ 0 w 264083"/>
                <a:gd name="connsiteY7" fmla="*/ 0 h 264083"/>
                <a:gd name="connsiteX8" fmla="*/ 986 w 264083"/>
                <a:gd name="connsiteY8" fmla="*/ 986 h 264083"/>
                <a:gd name="connsiteX9" fmla="*/ 0 w 264083"/>
                <a:gd name="connsiteY9" fmla="*/ 10769 h 26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4083" h="264083">
                  <a:moveTo>
                    <a:pt x="263098" y="263098"/>
                  </a:moveTo>
                  <a:lnTo>
                    <a:pt x="264083" y="264083"/>
                  </a:lnTo>
                  <a:lnTo>
                    <a:pt x="253325" y="264083"/>
                  </a:lnTo>
                  <a:close/>
                  <a:moveTo>
                    <a:pt x="0" y="10769"/>
                  </a:moveTo>
                  <a:cubicBezTo>
                    <a:pt x="0" y="133183"/>
                    <a:pt x="86832" y="235317"/>
                    <a:pt x="202263" y="258938"/>
                  </a:cubicBezTo>
                  <a:lnTo>
                    <a:pt x="253305" y="264083"/>
                  </a:lnTo>
                  <a:lnTo>
                    <a:pt x="0" y="264083"/>
                  </a:lnTo>
                  <a:close/>
                  <a:moveTo>
                    <a:pt x="0" y="0"/>
                  </a:moveTo>
                  <a:lnTo>
                    <a:pt x="986" y="986"/>
                  </a:lnTo>
                  <a:lnTo>
                    <a:pt x="0" y="10769"/>
                  </a:lnTo>
                  <a:close/>
                </a:path>
              </a:pathLst>
            </a:cu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6E5D87-BD90-7A34-E033-38BB2FC06B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8623" y="6450357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5F37DCAC-7F70-B6AA-C970-193F33286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57322C0-3E50-25CE-9A02-C3CB2A188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설명선: 굽은 선(테두리 없음) 20">
            <a:extLst>
              <a:ext uri="{FF2B5EF4-FFF2-40B4-BE49-F238E27FC236}">
                <a16:creationId xmlns:a16="http://schemas.microsoft.com/office/drawing/2014/main" id="{744A763E-F5EF-E1EF-3E9F-DC3D8A6A4FE3}"/>
              </a:ext>
            </a:extLst>
          </p:cNvPr>
          <p:cNvSpPr/>
          <p:nvPr/>
        </p:nvSpPr>
        <p:spPr>
          <a:xfrm>
            <a:off x="5174513" y="5715983"/>
            <a:ext cx="1388959" cy="342900"/>
          </a:xfrm>
          <a:prstGeom prst="callout2">
            <a:avLst>
              <a:gd name="adj1" fmla="val 45834"/>
              <a:gd name="adj2" fmla="val -109"/>
              <a:gd name="adj3" fmla="val 46528"/>
              <a:gd name="adj4" fmla="val -16153"/>
              <a:gd name="adj5" fmla="val 140278"/>
              <a:gd name="adj6" fmla="val -33980"/>
            </a:avLst>
          </a:prstGeom>
          <a:noFill/>
          <a:ln w="6350">
            <a:solidFill>
              <a:srgbClr val="6383EC"/>
            </a:solidFill>
            <a:tailEnd type="oval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050" b="1" dirty="0" err="1">
                <a:solidFill>
                  <a:srgbClr val="6383EC"/>
                </a:solidFill>
              </a:rPr>
              <a:t>심현아</a:t>
            </a:r>
            <a:endParaRPr lang="ko-KR" altLang="en-US" sz="1200" b="1" dirty="0">
              <a:solidFill>
                <a:srgbClr val="6383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2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-1037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6E5D87-BD90-7A34-E033-38BB2FC06B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5F37DCAC-7F70-B6AA-C970-193F33286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57322C0-3E50-25CE-9A02-C3CB2A188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7" name="Freeform 9">
            <a:extLst>
              <a:ext uri="{FF2B5EF4-FFF2-40B4-BE49-F238E27FC236}">
                <a16:creationId xmlns:a16="http://schemas.microsoft.com/office/drawing/2014/main" id="{D4202FA5-0E5D-D30F-7384-6B16C001F78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Q-Learning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E8C364-11F6-F530-4230-7A1EE18DCA7B}"/>
                  </a:ext>
                </a:extLst>
              </p:cNvPr>
              <p:cNvSpPr txBox="1"/>
              <p:nvPr/>
            </p:nvSpPr>
            <p:spPr>
              <a:xfrm>
                <a:off x="3485533" y="2943595"/>
                <a:ext cx="5220934" cy="4565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ko-KR" sz="20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b="1" i="1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ko-KR" sz="2000" b="1" i="1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ko-KR" sz="20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ko-KR" sz="2000" b="1" i="1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ko-KR" sz="2000" b="1" i="1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2000" b="1" i="1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1" i="1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sz="20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func>
                        <m:funcPr>
                          <m:ctrlP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ko-KR" sz="2000" b="1" i="0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𝐚𝐫𝐠</m:t>
                              </m:r>
                              <m:r>
                                <a:rPr lang="en-US" altLang="ko-KR" sz="2000" b="1" i="0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en-US" altLang="ko-KR" sz="20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ko-KR" sz="2000" b="1" i="1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ko-KR" sz="20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ko-KR" sz="2000" b="1" i="1" smtClean="0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000" b="1" i="1" smtClean="0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ko-KR" sz="2000" b="1" i="1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20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ko-KR" sz="20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ko-KR" sz="2000" b="1" i="1" smtClean="0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2000" b="1" i="1" smtClean="0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2000" b="1" dirty="0">
                  <a:solidFill>
                    <a:srgbClr val="6383EC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E8C364-11F6-F530-4230-7A1EE18DC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533" y="2943595"/>
                <a:ext cx="5220934" cy="456535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FB4EF47-4B26-55CB-5C3E-3BC9163CFB43}"/>
              </a:ext>
            </a:extLst>
          </p:cNvPr>
          <p:cNvSpPr txBox="1"/>
          <p:nvPr/>
        </p:nvSpPr>
        <p:spPr>
          <a:xfrm>
            <a:off x="3602531" y="3514409"/>
            <a:ext cx="5073898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</a:rPr>
              <a:t>Q-Va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lue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를 최대화하는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action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을 취하도록 학습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AAA551-845B-24E9-8DF9-7AE773756D0D}"/>
                  </a:ext>
                </a:extLst>
              </p:cNvPr>
              <p:cNvSpPr txBox="1"/>
              <p:nvPr/>
            </p:nvSpPr>
            <p:spPr>
              <a:xfrm>
                <a:off x="4677668" y="2372781"/>
                <a:ext cx="2923624" cy="4565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ko-KR" sz="20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ko-KR" sz="2000" b="1" i="0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𝐚𝐫𝐠</m:t>
                              </m:r>
                              <m:r>
                                <a:rPr lang="en-US" altLang="ko-KR" sz="2000" b="1" i="0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en-US" altLang="ko-KR" sz="20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ko-KR" sz="20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ko-KR" altLang="en-US" sz="2000" b="1" dirty="0">
                  <a:solidFill>
                    <a:srgbClr val="6383EC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AAA551-845B-24E9-8DF9-7AE773756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668" y="2372781"/>
                <a:ext cx="2923624" cy="456535"/>
              </a:xfrm>
              <a:prstGeom prst="rect">
                <a:avLst/>
              </a:prstGeom>
              <a:blipFill>
                <a:blip r:embed="rId4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37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-1037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6E5D87-BD90-7A34-E033-38BB2FC06B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5F37DCAC-7F70-B6AA-C970-193F33286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57322C0-3E50-25CE-9A02-C3CB2A188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7" name="Freeform 9">
            <a:extLst>
              <a:ext uri="{FF2B5EF4-FFF2-40B4-BE49-F238E27FC236}">
                <a16:creationId xmlns:a16="http://schemas.microsoft.com/office/drawing/2014/main" id="{D4202FA5-0E5D-D30F-7384-6B16C001F78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Q-Learning</a:t>
            </a:r>
            <a:r>
              <a:rPr lang="en-US" altLang="ko-KR" sz="2000" kern="0" dirty="0">
                <a:solidFill>
                  <a:prstClr val="white">
                    <a:lumMod val="75000"/>
                  </a:prstClr>
                </a:solidFill>
              </a:rPr>
              <a:t> </a:t>
            </a:r>
            <a:r>
              <a:rPr lang="en-US" altLang="ko-KR" sz="1400" kern="0" dirty="0" err="1">
                <a:solidFill>
                  <a:prstClr val="white">
                    <a:lumMod val="75000"/>
                  </a:prstClr>
                </a:solidFill>
              </a:rPr>
              <a:t>gridworld</a:t>
            </a:r>
            <a:r>
              <a:rPr lang="en-US" altLang="ko-KR" sz="1400" kern="0" dirty="0">
                <a:solidFill>
                  <a:prstClr val="white">
                    <a:lumMod val="75000"/>
                  </a:prstClr>
                </a:solidFill>
              </a:rPr>
              <a:t> example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34B65F8B-FA8A-7614-119C-423287B5D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125459"/>
              </p:ext>
            </p:extLst>
          </p:nvPr>
        </p:nvGraphicFramePr>
        <p:xfrm>
          <a:off x="2329983" y="3264184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 = 1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E400E338-5263-43A5-E3CE-72349AF1B6B7}"/>
              </a:ext>
            </a:extLst>
          </p:cNvPr>
          <p:cNvGrpSpPr/>
          <p:nvPr/>
        </p:nvGrpSpPr>
        <p:grpSpPr>
          <a:xfrm>
            <a:off x="2329983" y="2348588"/>
            <a:ext cx="1349231" cy="567463"/>
            <a:chOff x="3045216" y="1549872"/>
            <a:chExt cx="1349231" cy="56746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189C13-E1E2-B9D1-273E-1416417AD446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530B27D-D3E0-62B7-5CBA-EBCBD1CC2108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7A598A5-269C-EA6F-F3D4-9AC23DE9EB3F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3" name="표 2">
            <a:extLst>
              <a:ext uri="{FF2B5EF4-FFF2-40B4-BE49-F238E27FC236}">
                <a16:creationId xmlns:a16="http://schemas.microsoft.com/office/drawing/2014/main" id="{E2E64D63-253B-3BED-33CB-A40A5B188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621988"/>
              </p:ext>
            </p:extLst>
          </p:nvPr>
        </p:nvGraphicFramePr>
        <p:xfrm>
          <a:off x="7026270" y="3264184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R = 1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BCAB8979-EA33-D7BB-7AF2-FAB2F617C15E}"/>
              </a:ext>
            </a:extLst>
          </p:cNvPr>
          <p:cNvGrpSpPr/>
          <p:nvPr/>
        </p:nvGrpSpPr>
        <p:grpSpPr>
          <a:xfrm>
            <a:off x="7026270" y="2348588"/>
            <a:ext cx="1349231" cy="567463"/>
            <a:chOff x="3045216" y="1549872"/>
            <a:chExt cx="1349231" cy="567463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F7E5DA7-3965-D715-8785-6BF0F120BD20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A3026D9-4BAE-23E9-6611-42B55D41E8C0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5B965B6-95F0-599A-24A9-B0F573823DE3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F7F846B-95B7-53E4-C1B5-A7BC8F9FEE0A}"/>
              </a:ext>
            </a:extLst>
          </p:cNvPr>
          <p:cNvGrpSpPr/>
          <p:nvPr/>
        </p:nvGrpSpPr>
        <p:grpSpPr>
          <a:xfrm>
            <a:off x="9037468" y="4010262"/>
            <a:ext cx="999317" cy="828394"/>
            <a:chOff x="9037468" y="3123635"/>
            <a:chExt cx="999317" cy="828394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64D20AD4-D866-21CA-915A-B4622954D6FC}"/>
                </a:ext>
              </a:extLst>
            </p:cNvPr>
            <p:cNvGrpSpPr/>
            <p:nvPr/>
          </p:nvGrpSpPr>
          <p:grpSpPr>
            <a:xfrm>
              <a:off x="9037468" y="3145379"/>
              <a:ext cx="999317" cy="754927"/>
              <a:chOff x="4341181" y="3151248"/>
              <a:chExt cx="999317" cy="754927"/>
            </a:xfrm>
          </p:grpSpPr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83BBAAA6-AEF6-1F53-F208-2D8621FF25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1181" y="3151248"/>
                <a:ext cx="999317" cy="754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6208DF7E-E4A7-C39C-25B2-7AF5C95DF8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1181" y="3153754"/>
                <a:ext cx="999317" cy="75242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289E2-3B2E-39A0-C30F-C4F91D26FF92}"/>
                </a:ext>
              </a:extLst>
            </p:cNvPr>
            <p:cNvSpPr txBox="1"/>
            <p:nvPr/>
          </p:nvSpPr>
          <p:spPr>
            <a:xfrm>
              <a:off x="9381474" y="358269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3095A2-3509-9BD7-E3FE-43EACEA163BD}"/>
                </a:ext>
              </a:extLst>
            </p:cNvPr>
            <p:cNvSpPr txBox="1"/>
            <p:nvPr/>
          </p:nvSpPr>
          <p:spPr>
            <a:xfrm>
              <a:off x="9381474" y="312363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19DC0EE-52B2-8787-A8F9-3217C6881F21}"/>
                </a:ext>
              </a:extLst>
            </p:cNvPr>
            <p:cNvSpPr txBox="1"/>
            <p:nvPr/>
          </p:nvSpPr>
          <p:spPr>
            <a:xfrm>
              <a:off x="9070170" y="334938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7FAB9AF-4CD0-DCBF-3D69-0BF9AE204720}"/>
                </a:ext>
              </a:extLst>
            </p:cNvPr>
            <p:cNvSpPr txBox="1"/>
            <p:nvPr/>
          </p:nvSpPr>
          <p:spPr>
            <a:xfrm>
              <a:off x="9710534" y="334938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CC782DF-FF41-86B7-BB52-60B6BAE7B403}"/>
              </a:ext>
            </a:extLst>
          </p:cNvPr>
          <p:cNvSpPr txBox="1"/>
          <p:nvPr/>
        </p:nvSpPr>
        <p:spPr>
          <a:xfrm>
            <a:off x="3559051" y="1198508"/>
            <a:ext cx="5073898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9 States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4 Actions (up, down, left, right)</a:t>
            </a:r>
          </a:p>
        </p:txBody>
      </p:sp>
    </p:spTree>
    <p:extLst>
      <p:ext uri="{BB962C8B-B14F-4D97-AF65-F5344CB8AC3E}">
        <p14:creationId xmlns:p14="http://schemas.microsoft.com/office/powerpoint/2010/main" val="290672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-1037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6E5D87-BD90-7A34-E033-38BB2FC06B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5F37DCAC-7F70-B6AA-C970-193F33286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57322C0-3E50-25CE-9A02-C3CB2A188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7" name="Freeform 9">
            <a:extLst>
              <a:ext uri="{FF2B5EF4-FFF2-40B4-BE49-F238E27FC236}">
                <a16:creationId xmlns:a16="http://schemas.microsoft.com/office/drawing/2014/main" id="{D4202FA5-0E5D-D30F-7384-6B16C001F78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Q-Learning</a:t>
            </a:r>
            <a:r>
              <a:rPr lang="en-US" altLang="ko-KR" sz="2000" kern="0" dirty="0">
                <a:solidFill>
                  <a:prstClr val="white">
                    <a:lumMod val="75000"/>
                  </a:prstClr>
                </a:solidFill>
              </a:rPr>
              <a:t> </a:t>
            </a:r>
            <a:r>
              <a:rPr lang="en-US" altLang="ko-KR" sz="1400" kern="0" dirty="0" err="1">
                <a:solidFill>
                  <a:prstClr val="white">
                    <a:lumMod val="75000"/>
                  </a:prstClr>
                </a:solidFill>
              </a:rPr>
              <a:t>gridworld</a:t>
            </a:r>
            <a:r>
              <a:rPr lang="en-US" altLang="ko-KR" sz="1400" kern="0" dirty="0">
                <a:solidFill>
                  <a:prstClr val="white">
                    <a:lumMod val="75000"/>
                  </a:prstClr>
                </a:solidFill>
              </a:rPr>
              <a:t> example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34B65F8B-FA8A-7614-119C-423287B5D4F4}"/>
              </a:ext>
            </a:extLst>
          </p:cNvPr>
          <p:cNvGraphicFramePr>
            <a:graphicFrameLocks noGrp="1"/>
          </p:cNvGraphicFramePr>
          <p:nvPr/>
        </p:nvGraphicFramePr>
        <p:xfrm>
          <a:off x="2329983" y="3264184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 = 1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E400E338-5263-43A5-E3CE-72349AF1B6B7}"/>
              </a:ext>
            </a:extLst>
          </p:cNvPr>
          <p:cNvGrpSpPr/>
          <p:nvPr/>
        </p:nvGrpSpPr>
        <p:grpSpPr>
          <a:xfrm>
            <a:off x="2329983" y="2348588"/>
            <a:ext cx="1349231" cy="567463"/>
            <a:chOff x="3045216" y="1549872"/>
            <a:chExt cx="1349231" cy="56746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C189C13-E1E2-B9D1-273E-1416417AD446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530B27D-D3E0-62B7-5CBA-EBCBD1CC2108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7A598A5-269C-EA6F-F3D4-9AC23DE9EB3F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3" name="표 2">
            <a:extLst>
              <a:ext uri="{FF2B5EF4-FFF2-40B4-BE49-F238E27FC236}">
                <a16:creationId xmlns:a16="http://schemas.microsoft.com/office/drawing/2014/main" id="{E2E64D63-253B-3BED-33CB-A40A5B188F04}"/>
              </a:ext>
            </a:extLst>
          </p:cNvPr>
          <p:cNvGraphicFramePr>
            <a:graphicFrameLocks noGrp="1"/>
          </p:cNvGraphicFramePr>
          <p:nvPr/>
        </p:nvGraphicFramePr>
        <p:xfrm>
          <a:off x="7026270" y="3264184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R = 1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BCAB8979-EA33-D7BB-7AF2-FAB2F617C15E}"/>
              </a:ext>
            </a:extLst>
          </p:cNvPr>
          <p:cNvGrpSpPr/>
          <p:nvPr/>
        </p:nvGrpSpPr>
        <p:grpSpPr>
          <a:xfrm>
            <a:off x="7026270" y="2348588"/>
            <a:ext cx="1349231" cy="567463"/>
            <a:chOff x="3045216" y="1549872"/>
            <a:chExt cx="1349231" cy="567463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F7E5DA7-3965-D715-8785-6BF0F120BD20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A3026D9-4BAE-23E9-6611-42B55D41E8C0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5B965B6-95F0-599A-24A9-B0F573823DE3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F7F846B-95B7-53E4-C1B5-A7BC8F9FEE0A}"/>
              </a:ext>
            </a:extLst>
          </p:cNvPr>
          <p:cNvGrpSpPr/>
          <p:nvPr/>
        </p:nvGrpSpPr>
        <p:grpSpPr>
          <a:xfrm>
            <a:off x="9037468" y="4010262"/>
            <a:ext cx="999317" cy="828394"/>
            <a:chOff x="9037468" y="3123635"/>
            <a:chExt cx="999317" cy="828394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64D20AD4-D866-21CA-915A-B4622954D6FC}"/>
                </a:ext>
              </a:extLst>
            </p:cNvPr>
            <p:cNvGrpSpPr/>
            <p:nvPr/>
          </p:nvGrpSpPr>
          <p:grpSpPr>
            <a:xfrm>
              <a:off x="9037468" y="3145379"/>
              <a:ext cx="999317" cy="754927"/>
              <a:chOff x="4341181" y="3151248"/>
              <a:chExt cx="999317" cy="754927"/>
            </a:xfrm>
          </p:grpSpPr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83BBAAA6-AEF6-1F53-F208-2D8621FF25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1181" y="3151248"/>
                <a:ext cx="999317" cy="754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6208DF7E-E4A7-C39C-25B2-7AF5C95DF8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1181" y="3153754"/>
                <a:ext cx="999317" cy="75242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289E2-3B2E-39A0-C30F-C4F91D26FF92}"/>
                </a:ext>
              </a:extLst>
            </p:cNvPr>
            <p:cNvSpPr txBox="1"/>
            <p:nvPr/>
          </p:nvSpPr>
          <p:spPr>
            <a:xfrm>
              <a:off x="9381474" y="358269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3095A2-3509-9BD7-E3FE-43EACEA163BD}"/>
                </a:ext>
              </a:extLst>
            </p:cNvPr>
            <p:cNvSpPr txBox="1"/>
            <p:nvPr/>
          </p:nvSpPr>
          <p:spPr>
            <a:xfrm>
              <a:off x="9381474" y="312363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19DC0EE-52B2-8787-A8F9-3217C6881F21}"/>
                </a:ext>
              </a:extLst>
            </p:cNvPr>
            <p:cNvSpPr txBox="1"/>
            <p:nvPr/>
          </p:nvSpPr>
          <p:spPr>
            <a:xfrm>
              <a:off x="9070170" y="334938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7FAB9AF-4CD0-DCBF-3D69-0BF9AE204720}"/>
                </a:ext>
              </a:extLst>
            </p:cNvPr>
            <p:cNvSpPr txBox="1"/>
            <p:nvPr/>
          </p:nvSpPr>
          <p:spPr>
            <a:xfrm>
              <a:off x="9710534" y="334938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CC782DF-FF41-86B7-BB52-60B6BAE7B403}"/>
              </a:ext>
            </a:extLst>
          </p:cNvPr>
          <p:cNvSpPr txBox="1"/>
          <p:nvPr/>
        </p:nvSpPr>
        <p:spPr>
          <a:xfrm>
            <a:off x="3559051" y="1198508"/>
            <a:ext cx="5073898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9 States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4 Actions (up, down, left, right)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033057B-9A4F-D578-35D4-07E23F2B5D6E}"/>
              </a:ext>
            </a:extLst>
          </p:cNvPr>
          <p:cNvGrpSpPr/>
          <p:nvPr/>
        </p:nvGrpSpPr>
        <p:grpSpPr>
          <a:xfrm>
            <a:off x="9037468" y="3256536"/>
            <a:ext cx="999317" cy="828394"/>
            <a:chOff x="9037468" y="3123635"/>
            <a:chExt cx="999317" cy="82839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3221FB9-227C-BA48-E890-30C6DAC5CE26}"/>
                </a:ext>
              </a:extLst>
            </p:cNvPr>
            <p:cNvGrpSpPr/>
            <p:nvPr/>
          </p:nvGrpSpPr>
          <p:grpSpPr>
            <a:xfrm>
              <a:off x="9037468" y="3145379"/>
              <a:ext cx="999317" cy="754927"/>
              <a:chOff x="4341181" y="3151248"/>
              <a:chExt cx="999317" cy="754927"/>
            </a:xfrm>
          </p:grpSpPr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EE74EDDD-A13F-B7A7-E0E6-EE7780E62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1181" y="3151248"/>
                <a:ext cx="999317" cy="754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05D11356-5FE8-D820-50D6-24831B5B31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1181" y="3153754"/>
                <a:ext cx="999317" cy="75242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9E8B4E-696B-5DBE-00FA-10B8C1718470}"/>
                </a:ext>
              </a:extLst>
            </p:cNvPr>
            <p:cNvSpPr txBox="1"/>
            <p:nvPr/>
          </p:nvSpPr>
          <p:spPr>
            <a:xfrm>
              <a:off x="9381474" y="358269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DD720AF-A1FC-4158-A25B-34E657300377}"/>
                </a:ext>
              </a:extLst>
            </p:cNvPr>
            <p:cNvSpPr txBox="1"/>
            <p:nvPr/>
          </p:nvSpPr>
          <p:spPr>
            <a:xfrm>
              <a:off x="9381474" y="312363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053307-8DCA-D597-E769-4AA86F8A7C01}"/>
                </a:ext>
              </a:extLst>
            </p:cNvPr>
            <p:cNvSpPr txBox="1"/>
            <p:nvPr/>
          </p:nvSpPr>
          <p:spPr>
            <a:xfrm>
              <a:off x="9070170" y="334938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01CFBBD-6757-DDCC-F37F-E03AC699617F}"/>
                </a:ext>
              </a:extLst>
            </p:cNvPr>
            <p:cNvSpPr txBox="1"/>
            <p:nvPr/>
          </p:nvSpPr>
          <p:spPr>
            <a:xfrm>
              <a:off x="9710534" y="334938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50E194F-BF5D-6CE1-F7A9-F37A23E11D42}"/>
              </a:ext>
            </a:extLst>
          </p:cNvPr>
          <p:cNvGrpSpPr/>
          <p:nvPr/>
        </p:nvGrpSpPr>
        <p:grpSpPr>
          <a:xfrm>
            <a:off x="4341181" y="4010262"/>
            <a:ext cx="999317" cy="828394"/>
            <a:chOff x="9037468" y="3123635"/>
            <a:chExt cx="999317" cy="828394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13AA6B4-B67E-9ACC-B06E-D6B495BA7857}"/>
                </a:ext>
              </a:extLst>
            </p:cNvPr>
            <p:cNvGrpSpPr/>
            <p:nvPr/>
          </p:nvGrpSpPr>
          <p:grpSpPr>
            <a:xfrm>
              <a:off x="9037468" y="3145379"/>
              <a:ext cx="999317" cy="754927"/>
              <a:chOff x="4341181" y="3151248"/>
              <a:chExt cx="999317" cy="754927"/>
            </a:xfrm>
          </p:grpSpPr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30219CF8-EC43-14D5-60E2-05534351D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1181" y="3151248"/>
                <a:ext cx="999317" cy="754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B68BC7-FAFF-01FE-866F-DC86DC0D68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41181" y="3153754"/>
                <a:ext cx="999317" cy="75242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510EFB-A9E5-32FA-293B-9164AF5CF1EB}"/>
                </a:ext>
              </a:extLst>
            </p:cNvPr>
            <p:cNvSpPr txBox="1"/>
            <p:nvPr/>
          </p:nvSpPr>
          <p:spPr>
            <a:xfrm>
              <a:off x="9381474" y="3582697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EAB2DAD-6490-63F6-171D-3299D5910999}"/>
                </a:ext>
              </a:extLst>
            </p:cNvPr>
            <p:cNvSpPr txBox="1"/>
            <p:nvPr/>
          </p:nvSpPr>
          <p:spPr>
            <a:xfrm>
              <a:off x="9381474" y="312363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39FECA0-619A-6673-5EF4-1616AFCE7EA8}"/>
                </a:ext>
              </a:extLst>
            </p:cNvPr>
            <p:cNvSpPr txBox="1"/>
            <p:nvPr/>
          </p:nvSpPr>
          <p:spPr>
            <a:xfrm>
              <a:off x="9070170" y="334938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1B15417-ABF3-92D9-8910-FFD6FBF7117B}"/>
                </a:ext>
              </a:extLst>
            </p:cNvPr>
            <p:cNvSpPr txBox="1"/>
            <p:nvPr/>
          </p:nvSpPr>
          <p:spPr>
            <a:xfrm>
              <a:off x="9710534" y="334938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10270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Return </a:t>
            </a:r>
            <a:r>
              <a:rPr lang="en-US" altLang="ko-KR" sz="2400" i="1" kern="0" dirty="0">
                <a:ln w="9525">
                  <a:noFill/>
                </a:ln>
                <a:solidFill>
                  <a:srgbClr val="FF898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vs</a:t>
            </a: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Value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955177-5CF2-0992-DB47-0741634FC24E}"/>
              </a:ext>
            </a:extLst>
          </p:cNvPr>
          <p:cNvSpPr/>
          <p:nvPr/>
        </p:nvSpPr>
        <p:spPr>
          <a:xfrm>
            <a:off x="1556391" y="2675349"/>
            <a:ext cx="4248354" cy="1435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rgbClr val="6383EC"/>
                </a:solidFill>
              </a:rPr>
              <a:t>[</a:t>
            </a:r>
            <a:r>
              <a:rPr lang="en-US" altLang="ko-KR" sz="1600" b="1" dirty="0" err="1">
                <a:solidFill>
                  <a:srgbClr val="6383EC"/>
                </a:solidFill>
              </a:rPr>
              <a:t>Retrun</a:t>
            </a:r>
            <a:r>
              <a:rPr lang="en-US" altLang="ko-KR" sz="1600" b="1" dirty="0">
                <a:solidFill>
                  <a:srgbClr val="6383EC"/>
                </a:solidFill>
              </a:rPr>
              <a:t>]</a:t>
            </a:r>
          </a:p>
          <a:p>
            <a:pPr>
              <a:lnSpc>
                <a:spcPct val="150000"/>
              </a:lnSpc>
              <a:defRPr/>
            </a:pPr>
            <a:endParaRPr lang="en-US" altLang="ko-KR" sz="1600" b="1" dirty="0">
              <a:solidFill>
                <a:srgbClr val="6383EC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현재 정책을 따랐을 때 얻을 수 있는 보상의 합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평가가 포함되어 있지 않음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013779-9732-2889-B81A-5139B9EFB1DC}"/>
              </a:ext>
            </a:extLst>
          </p:cNvPr>
          <p:cNvSpPr/>
          <p:nvPr/>
        </p:nvSpPr>
        <p:spPr>
          <a:xfrm>
            <a:off x="6472933" y="2675349"/>
            <a:ext cx="5248943" cy="1758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rgbClr val="6383EC"/>
                </a:solidFill>
              </a:rPr>
              <a:t>[Value]</a:t>
            </a:r>
          </a:p>
          <a:p>
            <a:pPr>
              <a:lnSpc>
                <a:spcPct val="150000"/>
              </a:lnSpc>
              <a:defRPr/>
            </a:pPr>
            <a:endParaRPr lang="en-US" altLang="ko-KR" sz="1600" b="1" dirty="0">
              <a:solidFill>
                <a:srgbClr val="6383EC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대수의 법칙을 따라 예상되는 모든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return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의 평균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몬테카를로 방식을 이용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반복 무작위 샘플링으로 함수의 값을 수리적으로 근사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66F8CC5-1F1D-2193-380B-94D6F743B6FE}"/>
              </a:ext>
            </a:extLst>
          </p:cNvPr>
          <p:cNvCxnSpPr>
            <a:cxnSpLocks/>
          </p:cNvCxnSpPr>
          <p:nvPr/>
        </p:nvCxnSpPr>
        <p:spPr>
          <a:xfrm flipH="1">
            <a:off x="5411045" y="2760547"/>
            <a:ext cx="787400" cy="1588482"/>
          </a:xfrm>
          <a:prstGeom prst="line">
            <a:avLst/>
          </a:prstGeom>
          <a:ln w="28575">
            <a:solidFill>
              <a:srgbClr val="FF89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5C3E1229-AEE8-5972-9B04-B4389E2A30E2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22D3A251-62B5-8D73-32F1-371E4503F3BE}"/>
              </a:ext>
            </a:extLst>
          </p:cNvPr>
          <p:cNvSpPr/>
          <p:nvPr/>
        </p:nvSpPr>
        <p:spPr>
          <a:xfrm>
            <a:off x="-4298" y="-1037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자유형 23">
            <a:extLst>
              <a:ext uri="{FF2B5EF4-FFF2-40B4-BE49-F238E27FC236}">
                <a16:creationId xmlns:a16="http://schemas.microsoft.com/office/drawing/2014/main" id="{2FEA6A87-569A-103A-1FE6-6A430D653D0F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2DC7C0F-5649-32E0-166C-EEBD79C306AF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D6AEA5-B7A8-C91A-5B9E-AFE07A1784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557835E5-8F42-60B3-B76D-533027DC7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EFCED691-78D9-4A84-F049-E8EF4E601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B8E1FE70-A205-3CE1-CA12-8295220A49B8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865A1D1-A1D1-3C3E-6163-C274EBDFD243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76A527B6-4843-0990-4E56-2EFD51185F15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9FE395E-6225-DF6A-F574-40A27DEC5BD9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60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74859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State</a:t>
            </a:r>
            <a:r>
              <a:rPr lang="ko-KR" altLang="en-US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Value Function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9">
            <a:extLst>
              <a:ext uri="{FF2B5EF4-FFF2-40B4-BE49-F238E27FC236}">
                <a16:creationId xmlns:a16="http://schemas.microsoft.com/office/drawing/2014/main" id="{7E225DEB-B926-AADA-A731-92DBD849E93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5" name="Group 12">
            <a:extLst>
              <a:ext uri="{FF2B5EF4-FFF2-40B4-BE49-F238E27FC236}">
                <a16:creationId xmlns:a16="http://schemas.microsoft.com/office/drawing/2014/main" id="{394FF201-A979-AE91-F8DF-D9A80B3139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20CD12B9-E2FE-BD35-97E4-025B9725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37EB6F-6B53-5F18-E442-957B3380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7BEDFC4B-5758-89D7-C42A-28DF79295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005086"/>
              </p:ext>
            </p:extLst>
          </p:nvPr>
        </p:nvGraphicFramePr>
        <p:xfrm>
          <a:off x="2329983" y="2377557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804ECE74-2E0C-E415-6783-3AFC102A6D81}"/>
              </a:ext>
            </a:extLst>
          </p:cNvPr>
          <p:cNvGrpSpPr/>
          <p:nvPr/>
        </p:nvGrpSpPr>
        <p:grpSpPr>
          <a:xfrm>
            <a:off x="2329983" y="1461961"/>
            <a:ext cx="1349231" cy="567463"/>
            <a:chOff x="3045216" y="1549872"/>
            <a:chExt cx="1349231" cy="56746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797FCD3-3754-1B7F-5AA7-28EA9F79A7E1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E6B41ED-395F-B677-4A35-C88E43395B46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B6B4362-B558-AAD6-1203-025431E27E9C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2" name="표 2">
            <a:extLst>
              <a:ext uri="{FF2B5EF4-FFF2-40B4-BE49-F238E27FC236}">
                <a16:creationId xmlns:a16="http://schemas.microsoft.com/office/drawing/2014/main" id="{A40FD034-9E63-B552-CAF0-2CCD8F400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005086"/>
              </p:ext>
            </p:extLst>
          </p:nvPr>
        </p:nvGraphicFramePr>
        <p:xfrm>
          <a:off x="7026270" y="2377557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B31AA7B1-0D42-A6CB-3248-F93E532CE512}"/>
              </a:ext>
            </a:extLst>
          </p:cNvPr>
          <p:cNvGrpSpPr/>
          <p:nvPr/>
        </p:nvGrpSpPr>
        <p:grpSpPr>
          <a:xfrm>
            <a:off x="7026270" y="1461961"/>
            <a:ext cx="1349231" cy="567463"/>
            <a:chOff x="3045216" y="1549872"/>
            <a:chExt cx="1349231" cy="56746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AF86696-0F57-7F47-F8A6-113C375E25AF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9E0D132-0B9F-EF87-6AD9-E49A9DCE3899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4764750-5A91-9361-A3DA-DDA2B1F1B743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별: 꼭짓점 5개 27">
            <a:extLst>
              <a:ext uri="{FF2B5EF4-FFF2-40B4-BE49-F238E27FC236}">
                <a16:creationId xmlns:a16="http://schemas.microsoft.com/office/drawing/2014/main" id="{A6AC1DE0-2218-4EDE-B557-7A5F87053643}"/>
              </a:ext>
            </a:extLst>
          </p:cNvPr>
          <p:cNvSpPr/>
          <p:nvPr/>
        </p:nvSpPr>
        <p:spPr>
          <a:xfrm>
            <a:off x="2556681" y="2457607"/>
            <a:ext cx="563327" cy="55041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별: 꼭짓점 5개 28">
            <a:extLst>
              <a:ext uri="{FF2B5EF4-FFF2-40B4-BE49-F238E27FC236}">
                <a16:creationId xmlns:a16="http://schemas.microsoft.com/office/drawing/2014/main" id="{218ECFB3-6B01-B834-3F06-1DFEDB37A0CC}"/>
              </a:ext>
            </a:extLst>
          </p:cNvPr>
          <p:cNvSpPr/>
          <p:nvPr/>
        </p:nvSpPr>
        <p:spPr>
          <a:xfrm>
            <a:off x="9280934" y="3241858"/>
            <a:ext cx="563327" cy="55041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85E5ED-52B8-2D29-8EB0-AAEE33E9EEC7}"/>
              </a:ext>
            </a:extLst>
          </p:cNvPr>
          <p:cNvSpPr/>
          <p:nvPr/>
        </p:nvSpPr>
        <p:spPr>
          <a:xfrm>
            <a:off x="3610921" y="5338842"/>
            <a:ext cx="4970157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  <a:latin typeface="THE명품고딕M_U" panose="02020603020101020101" pitchFamily="18" charset="-127"/>
                <a:ea typeface="THE명품고딕M_U" panose="02020603020101020101" pitchFamily="18" charset="-127"/>
              </a:rPr>
              <a:t>어떤게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THE명품고딕M_U" panose="02020603020101020101" pitchFamily="18" charset="-127"/>
                <a:ea typeface="THE명품고딕M_U" panose="02020603020101020101" pitchFamily="18" charset="-127"/>
              </a:rPr>
              <a:t> 더 가치 있다고 할 수 있을까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THE명품고딕M_U" panose="02020603020101020101" pitchFamily="18" charset="-127"/>
                <a:ea typeface="THE명품고딕M_U" panose="02020603020101020101" pitchFamily="18" charset="-127"/>
              </a:rPr>
              <a:t>?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THE명품고딕M_U" panose="02020603020101020101" pitchFamily="18" charset="-127"/>
              <a:ea typeface="THE명품고딕M_U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66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74859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State</a:t>
            </a:r>
            <a:r>
              <a:rPr lang="ko-KR" altLang="en-US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Value Function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9">
            <a:extLst>
              <a:ext uri="{FF2B5EF4-FFF2-40B4-BE49-F238E27FC236}">
                <a16:creationId xmlns:a16="http://schemas.microsoft.com/office/drawing/2014/main" id="{7E225DEB-B926-AADA-A731-92DBD849E93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5" name="Group 12">
            <a:extLst>
              <a:ext uri="{FF2B5EF4-FFF2-40B4-BE49-F238E27FC236}">
                <a16:creationId xmlns:a16="http://schemas.microsoft.com/office/drawing/2014/main" id="{394FF201-A979-AE91-F8DF-D9A80B3139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20CD12B9-E2FE-BD35-97E4-025B9725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37EB6F-6B53-5F18-E442-957B3380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7BEDFC4B-5758-89D7-C42A-28DF79295849}"/>
              </a:ext>
            </a:extLst>
          </p:cNvPr>
          <p:cNvGraphicFramePr>
            <a:graphicFrameLocks noGrp="1"/>
          </p:cNvGraphicFramePr>
          <p:nvPr/>
        </p:nvGraphicFramePr>
        <p:xfrm>
          <a:off x="2329983" y="2377557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804ECE74-2E0C-E415-6783-3AFC102A6D81}"/>
              </a:ext>
            </a:extLst>
          </p:cNvPr>
          <p:cNvGrpSpPr/>
          <p:nvPr/>
        </p:nvGrpSpPr>
        <p:grpSpPr>
          <a:xfrm>
            <a:off x="2329983" y="1461961"/>
            <a:ext cx="1349231" cy="567463"/>
            <a:chOff x="3045216" y="1549872"/>
            <a:chExt cx="1349231" cy="56746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797FCD3-3754-1B7F-5AA7-28EA9F79A7E1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E6B41ED-395F-B677-4A35-C88E43395B46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B6B4362-B558-AAD6-1203-025431E27E9C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2" name="표 2">
            <a:extLst>
              <a:ext uri="{FF2B5EF4-FFF2-40B4-BE49-F238E27FC236}">
                <a16:creationId xmlns:a16="http://schemas.microsoft.com/office/drawing/2014/main" id="{A40FD034-9E63-B552-CAF0-2CCD8F400303}"/>
              </a:ext>
            </a:extLst>
          </p:cNvPr>
          <p:cNvGraphicFramePr>
            <a:graphicFrameLocks noGrp="1"/>
          </p:cNvGraphicFramePr>
          <p:nvPr/>
        </p:nvGraphicFramePr>
        <p:xfrm>
          <a:off x="7026270" y="2377557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B31AA7B1-0D42-A6CB-3248-F93E532CE512}"/>
              </a:ext>
            </a:extLst>
          </p:cNvPr>
          <p:cNvGrpSpPr/>
          <p:nvPr/>
        </p:nvGrpSpPr>
        <p:grpSpPr>
          <a:xfrm>
            <a:off x="7026270" y="1461961"/>
            <a:ext cx="1349231" cy="567463"/>
            <a:chOff x="3045216" y="1549872"/>
            <a:chExt cx="1349231" cy="56746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AF86696-0F57-7F47-F8A6-113C375E25AF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9E0D132-0B9F-EF87-6AD9-E49A9DCE3899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4764750-5A91-9361-A3DA-DDA2B1F1B743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별: 꼭짓점 5개 27">
            <a:extLst>
              <a:ext uri="{FF2B5EF4-FFF2-40B4-BE49-F238E27FC236}">
                <a16:creationId xmlns:a16="http://schemas.microsoft.com/office/drawing/2014/main" id="{A6AC1DE0-2218-4EDE-B557-7A5F87053643}"/>
              </a:ext>
            </a:extLst>
          </p:cNvPr>
          <p:cNvSpPr/>
          <p:nvPr/>
        </p:nvSpPr>
        <p:spPr>
          <a:xfrm>
            <a:off x="2556681" y="2457607"/>
            <a:ext cx="563327" cy="55041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별: 꼭짓점 5개 28">
            <a:extLst>
              <a:ext uri="{FF2B5EF4-FFF2-40B4-BE49-F238E27FC236}">
                <a16:creationId xmlns:a16="http://schemas.microsoft.com/office/drawing/2014/main" id="{218ECFB3-6B01-B834-3F06-1DFEDB37A0CC}"/>
              </a:ext>
            </a:extLst>
          </p:cNvPr>
          <p:cNvSpPr/>
          <p:nvPr/>
        </p:nvSpPr>
        <p:spPr>
          <a:xfrm>
            <a:off x="9280934" y="3241858"/>
            <a:ext cx="563327" cy="55041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F7A62E0-96DC-A8CD-0D7C-35FBAE8D923B}"/>
              </a:ext>
            </a:extLst>
          </p:cNvPr>
          <p:cNvCxnSpPr/>
          <p:nvPr/>
        </p:nvCxnSpPr>
        <p:spPr>
          <a:xfrm>
            <a:off x="3120008" y="2749378"/>
            <a:ext cx="559206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7EA09E4-9ACD-7801-B728-C87C1129D940}"/>
              </a:ext>
            </a:extLst>
          </p:cNvPr>
          <p:cNvCxnSpPr/>
          <p:nvPr/>
        </p:nvCxnSpPr>
        <p:spPr>
          <a:xfrm>
            <a:off x="4071479" y="2749378"/>
            <a:ext cx="559206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74E923D-9A8B-CF0D-E91C-E0D298F5A14A}"/>
              </a:ext>
            </a:extLst>
          </p:cNvPr>
          <p:cNvCxnSpPr>
            <a:cxnSpLocks/>
          </p:cNvCxnSpPr>
          <p:nvPr/>
        </p:nvCxnSpPr>
        <p:spPr>
          <a:xfrm>
            <a:off x="4865462" y="2967226"/>
            <a:ext cx="0" cy="40927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CE2777B-43E1-A33F-CDCB-69FAED7AA5EE}"/>
              </a:ext>
            </a:extLst>
          </p:cNvPr>
          <p:cNvCxnSpPr>
            <a:cxnSpLocks/>
          </p:cNvCxnSpPr>
          <p:nvPr/>
        </p:nvCxnSpPr>
        <p:spPr>
          <a:xfrm>
            <a:off x="4865462" y="3720988"/>
            <a:ext cx="0" cy="40927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AC9C5C9-51E5-7176-527F-F9210909371F}"/>
              </a:ext>
            </a:extLst>
          </p:cNvPr>
          <p:cNvCxnSpPr>
            <a:cxnSpLocks/>
          </p:cNvCxnSpPr>
          <p:nvPr/>
        </p:nvCxnSpPr>
        <p:spPr>
          <a:xfrm>
            <a:off x="9561029" y="3720988"/>
            <a:ext cx="0" cy="40927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C9ADD5E-25E5-F5DC-DBB2-7DC30A9724D8}"/>
              </a:ext>
            </a:extLst>
          </p:cNvPr>
          <p:cNvCxnSpPr/>
          <p:nvPr/>
        </p:nvCxnSpPr>
        <p:spPr>
          <a:xfrm flipH="1">
            <a:off x="8773297" y="3527854"/>
            <a:ext cx="457200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C8C014A-DAE8-3A37-5F37-1712793DE380}"/>
              </a:ext>
            </a:extLst>
          </p:cNvPr>
          <p:cNvCxnSpPr>
            <a:cxnSpLocks/>
          </p:cNvCxnSpPr>
          <p:nvPr/>
        </p:nvCxnSpPr>
        <p:spPr>
          <a:xfrm>
            <a:off x="8572488" y="3720988"/>
            <a:ext cx="0" cy="40927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4C0CAC5-CE7A-32EE-30F5-AD7754996D25}"/>
              </a:ext>
            </a:extLst>
          </p:cNvPr>
          <p:cNvCxnSpPr>
            <a:cxnSpLocks/>
          </p:cNvCxnSpPr>
          <p:nvPr/>
        </p:nvCxnSpPr>
        <p:spPr>
          <a:xfrm>
            <a:off x="8853616" y="4324864"/>
            <a:ext cx="427318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A6CAAC-B08A-77E2-78CC-ACAFAC9A7000}"/>
              </a:ext>
            </a:extLst>
          </p:cNvPr>
          <p:cNvSpPr/>
          <p:nvPr/>
        </p:nvSpPr>
        <p:spPr>
          <a:xfrm>
            <a:off x="4306256" y="2694476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2060"/>
                </a:solidFill>
              </a:rPr>
              <a:t>1.0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5AFFF76-8566-3505-4AC4-FD836759AF19}"/>
              </a:ext>
            </a:extLst>
          </p:cNvPr>
          <p:cNvSpPr/>
          <p:nvPr/>
        </p:nvSpPr>
        <p:spPr>
          <a:xfrm>
            <a:off x="3379564" y="2694476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2060"/>
                </a:solidFill>
              </a:rPr>
              <a:t>1.0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4F7349E-D4D7-368B-E9D4-0E24467A1DC5}"/>
              </a:ext>
            </a:extLst>
          </p:cNvPr>
          <p:cNvSpPr/>
          <p:nvPr/>
        </p:nvSpPr>
        <p:spPr>
          <a:xfrm>
            <a:off x="4865461" y="3049490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2060"/>
                </a:solidFill>
              </a:rPr>
              <a:t>1.0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DDEF61C-19DA-82AE-8542-02FA711FC288}"/>
              </a:ext>
            </a:extLst>
          </p:cNvPr>
          <p:cNvSpPr/>
          <p:nvPr/>
        </p:nvSpPr>
        <p:spPr>
          <a:xfrm>
            <a:off x="4865461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2060"/>
                </a:solidFill>
              </a:rPr>
              <a:t>1.0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415E158-5728-E557-7FBC-C75FDDAC824B}"/>
              </a:ext>
            </a:extLst>
          </p:cNvPr>
          <p:cNvSpPr/>
          <p:nvPr/>
        </p:nvSpPr>
        <p:spPr>
          <a:xfrm>
            <a:off x="8201022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1.0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C6B1E8A-91E6-3C4B-58C9-CADE635C3E47}"/>
              </a:ext>
            </a:extLst>
          </p:cNvPr>
          <p:cNvSpPr/>
          <p:nvPr/>
        </p:nvSpPr>
        <p:spPr>
          <a:xfrm>
            <a:off x="9001897" y="4276060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1.0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81A1BD2-B5C7-6C7E-BCEB-232D50E8F703}"/>
              </a:ext>
            </a:extLst>
          </p:cNvPr>
          <p:cNvSpPr/>
          <p:nvPr/>
        </p:nvSpPr>
        <p:spPr>
          <a:xfrm>
            <a:off x="9001823" y="3209296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0.1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5209005-B651-37CC-5C4C-345AC20ABB03}"/>
              </a:ext>
            </a:extLst>
          </p:cNvPr>
          <p:cNvSpPr/>
          <p:nvPr/>
        </p:nvSpPr>
        <p:spPr>
          <a:xfrm>
            <a:off x="9559501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2060"/>
                </a:solidFill>
              </a:rPr>
              <a:t>0.9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39C19A-EAD7-6A74-C60E-06A7DB3E40A2}"/>
                  </a:ext>
                </a:extLst>
              </p:cNvPr>
              <p:cNvSpPr txBox="1"/>
              <p:nvPr/>
            </p:nvSpPr>
            <p:spPr>
              <a:xfrm>
                <a:off x="3343791" y="5051921"/>
                <a:ext cx="9828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39C19A-EAD7-6A74-C60E-06A7DB3E4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91" y="5051921"/>
                <a:ext cx="982898" cy="276999"/>
              </a:xfrm>
              <a:prstGeom prst="rect">
                <a:avLst/>
              </a:prstGeom>
              <a:blipFill>
                <a:blip r:embed="rId3"/>
                <a:stretch>
                  <a:fillRect l="-4348" r="-3106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37F1815-3BC2-5140-3EB7-C6DA4A62BB14}"/>
                  </a:ext>
                </a:extLst>
              </p:cNvPr>
              <p:cNvSpPr txBox="1"/>
              <p:nvPr/>
            </p:nvSpPr>
            <p:spPr>
              <a:xfrm>
                <a:off x="7526240" y="5051922"/>
                <a:ext cx="20924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=0.9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+0.1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37F1815-3BC2-5140-3EB7-C6DA4A62B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6240" y="5051922"/>
                <a:ext cx="2092496" cy="276999"/>
              </a:xfrm>
              <a:prstGeom prst="rect">
                <a:avLst/>
              </a:prstGeom>
              <a:blipFill>
                <a:blip r:embed="rId4"/>
                <a:stretch>
                  <a:fillRect l="-1749" r="-1458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66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74859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State</a:t>
            </a:r>
            <a:r>
              <a:rPr lang="ko-KR" altLang="en-US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Value Function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9">
            <a:extLst>
              <a:ext uri="{FF2B5EF4-FFF2-40B4-BE49-F238E27FC236}">
                <a16:creationId xmlns:a16="http://schemas.microsoft.com/office/drawing/2014/main" id="{7E225DEB-B926-AADA-A731-92DBD849E93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5" name="Group 12">
            <a:extLst>
              <a:ext uri="{FF2B5EF4-FFF2-40B4-BE49-F238E27FC236}">
                <a16:creationId xmlns:a16="http://schemas.microsoft.com/office/drawing/2014/main" id="{394FF201-A979-AE91-F8DF-D9A80B3139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20CD12B9-E2FE-BD35-97E4-025B9725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37EB6F-6B53-5F18-E442-957B3380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955177-5CF2-0992-DB47-0741634FC24E}"/>
              </a:ext>
            </a:extLst>
          </p:cNvPr>
          <p:cNvSpPr/>
          <p:nvPr/>
        </p:nvSpPr>
        <p:spPr>
          <a:xfrm>
            <a:off x="1717272" y="3250517"/>
            <a:ext cx="3651549" cy="699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해당 상태에서의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반환값의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기댓값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지금부터 기대되는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Return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E4D776-D345-5178-EAF5-145CBCA25024}"/>
                  </a:ext>
                </a:extLst>
              </p:cNvPr>
              <p:cNvSpPr txBox="1"/>
              <p:nvPr/>
            </p:nvSpPr>
            <p:spPr>
              <a:xfrm>
                <a:off x="5996522" y="2149066"/>
                <a:ext cx="348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E4D776-D345-5178-EAF5-145CBCA25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522" y="2149066"/>
                <a:ext cx="3487621" cy="276999"/>
              </a:xfrm>
              <a:prstGeom prst="rect">
                <a:avLst/>
              </a:prstGeom>
              <a:blipFill>
                <a:blip r:embed="rId3"/>
                <a:stretch>
                  <a:fillRect l="-874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9CA1A5-CE5C-9BCF-C582-D5F3021F3D63}"/>
                  </a:ext>
                </a:extLst>
              </p:cNvPr>
              <p:cNvSpPr txBox="1"/>
              <p:nvPr/>
            </p:nvSpPr>
            <p:spPr>
              <a:xfrm>
                <a:off x="5999192" y="3620753"/>
                <a:ext cx="3953390" cy="681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: 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9CA1A5-CE5C-9BCF-C582-D5F3021F3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192" y="3620753"/>
                <a:ext cx="3953390" cy="6812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53C84-EEFA-EB50-448C-351D40D89554}"/>
                  </a:ext>
                </a:extLst>
              </p:cNvPr>
              <p:cNvSpPr txBox="1"/>
              <p:nvPr/>
            </p:nvSpPr>
            <p:spPr>
              <a:xfrm>
                <a:off x="5996522" y="4509081"/>
                <a:ext cx="5394234" cy="681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53C84-EEFA-EB50-448C-351D40D89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522" y="4509081"/>
                <a:ext cx="5394234" cy="6812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4C203A-135A-543B-9E35-BF6D6D422935}"/>
                  </a:ext>
                </a:extLst>
              </p:cNvPr>
              <p:cNvSpPr txBox="1"/>
              <p:nvPr/>
            </p:nvSpPr>
            <p:spPr>
              <a:xfrm>
                <a:off x="6000818" y="2956888"/>
                <a:ext cx="42972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4C203A-135A-543B-9E35-BF6D6D422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818" y="2956888"/>
                <a:ext cx="4297266" cy="276999"/>
              </a:xfrm>
              <a:prstGeom prst="rect">
                <a:avLst/>
              </a:prstGeom>
              <a:blipFill>
                <a:blip r:embed="rId6"/>
                <a:stretch>
                  <a:fillRect l="-426" r="-1418" b="-4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80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Action</a:t>
            </a:r>
            <a:r>
              <a:rPr lang="ko-KR" altLang="en-US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Value Function </a:t>
            </a:r>
            <a:r>
              <a:rPr lang="en-US" altLang="ko-KR" sz="1400" kern="0" dirty="0">
                <a:solidFill>
                  <a:prstClr val="white">
                    <a:lumMod val="75000"/>
                  </a:prstClr>
                </a:solidFill>
              </a:rPr>
              <a:t>Q-function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4ECE74-2E0C-E415-6783-3AFC102A6D81}"/>
              </a:ext>
            </a:extLst>
          </p:cNvPr>
          <p:cNvGrpSpPr/>
          <p:nvPr/>
        </p:nvGrpSpPr>
        <p:grpSpPr>
          <a:xfrm>
            <a:off x="2329983" y="1461961"/>
            <a:ext cx="1349231" cy="567463"/>
            <a:chOff x="3045216" y="1549872"/>
            <a:chExt cx="1349231" cy="567463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797FCD3-3754-1B7F-5AA7-28EA9F79A7E1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E6B41ED-395F-B677-4A35-C88E43395B46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B6B4362-B558-AAD6-1203-025431E27E9C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2" name="표 2">
            <a:extLst>
              <a:ext uri="{FF2B5EF4-FFF2-40B4-BE49-F238E27FC236}">
                <a16:creationId xmlns:a16="http://schemas.microsoft.com/office/drawing/2014/main" id="{A40FD034-9E63-B552-CAF0-2CCD8F400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426795"/>
              </p:ext>
            </p:extLst>
          </p:nvPr>
        </p:nvGraphicFramePr>
        <p:xfrm>
          <a:off x="7026270" y="2377557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B31AA7B1-0D42-A6CB-3248-F93E532CE512}"/>
              </a:ext>
            </a:extLst>
          </p:cNvPr>
          <p:cNvGrpSpPr/>
          <p:nvPr/>
        </p:nvGrpSpPr>
        <p:grpSpPr>
          <a:xfrm>
            <a:off x="7026270" y="1461961"/>
            <a:ext cx="1349231" cy="567463"/>
            <a:chOff x="3045216" y="1549872"/>
            <a:chExt cx="1349231" cy="56746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AF86696-0F57-7F47-F8A6-113C375E25AF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9E0D132-0B9F-EF87-6AD9-E49A9DCE3899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4764750-5A91-9361-A3DA-DDA2B1F1B743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별: 꼭짓점 5개 28">
            <a:extLst>
              <a:ext uri="{FF2B5EF4-FFF2-40B4-BE49-F238E27FC236}">
                <a16:creationId xmlns:a16="http://schemas.microsoft.com/office/drawing/2014/main" id="{218ECFB3-6B01-B834-3F06-1DFEDB37A0CC}"/>
              </a:ext>
            </a:extLst>
          </p:cNvPr>
          <p:cNvSpPr/>
          <p:nvPr/>
        </p:nvSpPr>
        <p:spPr>
          <a:xfrm>
            <a:off x="9280934" y="3241858"/>
            <a:ext cx="563327" cy="55041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AC9C5C9-51E5-7176-527F-F9210909371F}"/>
              </a:ext>
            </a:extLst>
          </p:cNvPr>
          <p:cNvCxnSpPr>
            <a:cxnSpLocks/>
          </p:cNvCxnSpPr>
          <p:nvPr/>
        </p:nvCxnSpPr>
        <p:spPr>
          <a:xfrm>
            <a:off x="9561029" y="3720988"/>
            <a:ext cx="0" cy="40927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C9ADD5E-25E5-F5DC-DBB2-7DC30A9724D8}"/>
              </a:ext>
            </a:extLst>
          </p:cNvPr>
          <p:cNvCxnSpPr/>
          <p:nvPr/>
        </p:nvCxnSpPr>
        <p:spPr>
          <a:xfrm flipH="1">
            <a:off x="8773297" y="3527854"/>
            <a:ext cx="457200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C8C014A-DAE8-3A37-5F37-1712793DE380}"/>
              </a:ext>
            </a:extLst>
          </p:cNvPr>
          <p:cNvCxnSpPr>
            <a:cxnSpLocks/>
          </p:cNvCxnSpPr>
          <p:nvPr/>
        </p:nvCxnSpPr>
        <p:spPr>
          <a:xfrm>
            <a:off x="8572488" y="3720988"/>
            <a:ext cx="0" cy="40927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4C0CAC5-CE7A-32EE-30F5-AD7754996D25}"/>
              </a:ext>
            </a:extLst>
          </p:cNvPr>
          <p:cNvCxnSpPr>
            <a:cxnSpLocks/>
          </p:cNvCxnSpPr>
          <p:nvPr/>
        </p:nvCxnSpPr>
        <p:spPr>
          <a:xfrm>
            <a:off x="8853616" y="4324864"/>
            <a:ext cx="427318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415E158-5728-E557-7FBC-C75FDDAC824B}"/>
              </a:ext>
            </a:extLst>
          </p:cNvPr>
          <p:cNvSpPr/>
          <p:nvPr/>
        </p:nvSpPr>
        <p:spPr>
          <a:xfrm>
            <a:off x="8201022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1.0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C6B1E8A-91E6-3C4B-58C9-CADE635C3E47}"/>
              </a:ext>
            </a:extLst>
          </p:cNvPr>
          <p:cNvSpPr/>
          <p:nvPr/>
        </p:nvSpPr>
        <p:spPr>
          <a:xfrm>
            <a:off x="9001897" y="4276060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1.0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81A1BD2-B5C7-6C7E-BCEB-232D50E8F703}"/>
              </a:ext>
            </a:extLst>
          </p:cNvPr>
          <p:cNvSpPr/>
          <p:nvPr/>
        </p:nvSpPr>
        <p:spPr>
          <a:xfrm>
            <a:off x="9001823" y="3209296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0.1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5209005-B651-37CC-5C4C-345AC20ABB03}"/>
              </a:ext>
            </a:extLst>
          </p:cNvPr>
          <p:cNvSpPr/>
          <p:nvPr/>
        </p:nvSpPr>
        <p:spPr>
          <a:xfrm>
            <a:off x="9559501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2060"/>
                </a:solidFill>
              </a:rPr>
              <a:t>0.9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39C19A-EAD7-6A74-C60E-06A7DB3E40A2}"/>
                  </a:ext>
                </a:extLst>
              </p:cNvPr>
              <p:cNvSpPr txBox="1"/>
              <p:nvPr/>
            </p:nvSpPr>
            <p:spPr>
              <a:xfrm>
                <a:off x="2146333" y="5073393"/>
                <a:ext cx="34059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=′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𝑛𝑎𝑣𝑦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′)=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39C19A-EAD7-6A74-C60E-06A7DB3E4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333" y="5073393"/>
                <a:ext cx="3405996" cy="276999"/>
              </a:xfrm>
              <a:prstGeom prst="rect">
                <a:avLst/>
              </a:prstGeom>
              <a:blipFill>
                <a:blip r:embed="rId3"/>
                <a:stretch>
                  <a:fillRect l="-1431" t="-2174" r="-537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표 2">
            <a:extLst>
              <a:ext uri="{FF2B5EF4-FFF2-40B4-BE49-F238E27FC236}">
                <a16:creationId xmlns:a16="http://schemas.microsoft.com/office/drawing/2014/main" id="{E72DE996-573A-3DA1-CCC5-C0607B310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410237"/>
              </p:ext>
            </p:extLst>
          </p:nvPr>
        </p:nvGraphicFramePr>
        <p:xfrm>
          <a:off x="2329982" y="2377557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sp>
        <p:nvSpPr>
          <p:cNvPr id="21" name="별: 꼭짓점 5개 20">
            <a:extLst>
              <a:ext uri="{FF2B5EF4-FFF2-40B4-BE49-F238E27FC236}">
                <a16:creationId xmlns:a16="http://schemas.microsoft.com/office/drawing/2014/main" id="{8DA5E8C5-907D-06FC-91CD-5155BFE8C811}"/>
              </a:ext>
            </a:extLst>
          </p:cNvPr>
          <p:cNvSpPr/>
          <p:nvPr/>
        </p:nvSpPr>
        <p:spPr>
          <a:xfrm>
            <a:off x="4557777" y="3241858"/>
            <a:ext cx="563327" cy="55041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AAA06F7-A500-3BD2-BE54-33946FEDB723}"/>
              </a:ext>
            </a:extLst>
          </p:cNvPr>
          <p:cNvCxnSpPr>
            <a:cxnSpLocks/>
          </p:cNvCxnSpPr>
          <p:nvPr/>
        </p:nvCxnSpPr>
        <p:spPr>
          <a:xfrm>
            <a:off x="4837872" y="3720988"/>
            <a:ext cx="0" cy="40927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8939F80-D1EE-99A0-41D9-6995D188F19B}"/>
              </a:ext>
            </a:extLst>
          </p:cNvPr>
          <p:cNvCxnSpPr/>
          <p:nvPr/>
        </p:nvCxnSpPr>
        <p:spPr>
          <a:xfrm flipH="1">
            <a:off x="4050140" y="3527854"/>
            <a:ext cx="457200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96CE247-7CF9-6112-1BF6-101F3176F48D}"/>
              </a:ext>
            </a:extLst>
          </p:cNvPr>
          <p:cNvCxnSpPr>
            <a:cxnSpLocks/>
          </p:cNvCxnSpPr>
          <p:nvPr/>
        </p:nvCxnSpPr>
        <p:spPr>
          <a:xfrm>
            <a:off x="3849331" y="3720988"/>
            <a:ext cx="0" cy="40927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DFE2EB6-5A88-22C8-11F6-306F9F28F639}"/>
              </a:ext>
            </a:extLst>
          </p:cNvPr>
          <p:cNvCxnSpPr>
            <a:cxnSpLocks/>
          </p:cNvCxnSpPr>
          <p:nvPr/>
        </p:nvCxnSpPr>
        <p:spPr>
          <a:xfrm>
            <a:off x="4130459" y="4324864"/>
            <a:ext cx="427318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4110CEF-3035-4788-37B7-2A5C2B82550F}"/>
              </a:ext>
            </a:extLst>
          </p:cNvPr>
          <p:cNvSpPr/>
          <p:nvPr/>
        </p:nvSpPr>
        <p:spPr>
          <a:xfrm>
            <a:off x="3477865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1.0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7F310BF-EC70-C818-720C-748AEE47288C}"/>
              </a:ext>
            </a:extLst>
          </p:cNvPr>
          <p:cNvSpPr/>
          <p:nvPr/>
        </p:nvSpPr>
        <p:spPr>
          <a:xfrm>
            <a:off x="4302394" y="4276060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1.0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C7047B9-BD05-2AC9-985A-F3D92EB800BE}"/>
              </a:ext>
            </a:extLst>
          </p:cNvPr>
          <p:cNvSpPr/>
          <p:nvPr/>
        </p:nvSpPr>
        <p:spPr>
          <a:xfrm>
            <a:off x="4302320" y="3209296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0.1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93A66E9-2942-4861-D894-39DEB249947C}"/>
              </a:ext>
            </a:extLst>
          </p:cNvPr>
          <p:cNvSpPr/>
          <p:nvPr/>
        </p:nvSpPr>
        <p:spPr>
          <a:xfrm>
            <a:off x="4836344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2060"/>
                </a:solidFill>
              </a:rPr>
              <a:t>0.9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A2B79EE-43D3-27AB-9F8E-3EBF664E9F01}"/>
                  </a:ext>
                </a:extLst>
              </p:cNvPr>
              <p:cNvSpPr txBox="1"/>
              <p:nvPr/>
            </p:nvSpPr>
            <p:spPr>
              <a:xfrm>
                <a:off x="6700854" y="5079486"/>
                <a:ext cx="37432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=′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′)=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A2B79EE-43D3-27AB-9F8E-3EBF664E9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854" y="5079486"/>
                <a:ext cx="3743268" cy="276999"/>
              </a:xfrm>
              <a:prstGeom prst="rect">
                <a:avLst/>
              </a:prstGeom>
              <a:blipFill>
                <a:blip r:embed="rId4"/>
                <a:stretch>
                  <a:fillRect l="-1303" t="-4348" r="-651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B6ACF688-D9EA-2F7D-7139-755E3D6D9122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8B46DC2D-EE3B-A511-932B-B0E04B3CF175}"/>
              </a:ext>
            </a:extLst>
          </p:cNvPr>
          <p:cNvSpPr/>
          <p:nvPr/>
        </p:nvSpPr>
        <p:spPr>
          <a:xfrm>
            <a:off x="-4298" y="1429518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2" name="자유형 23">
            <a:extLst>
              <a:ext uri="{FF2B5EF4-FFF2-40B4-BE49-F238E27FC236}">
                <a16:creationId xmlns:a16="http://schemas.microsoft.com/office/drawing/2014/main" id="{54835F60-A41F-1114-AF09-79E55DC74168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3F6088E8-DE82-9FA3-1E01-2FD4FC2580E6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C2997F3C-6F53-804D-1083-1B2B7CAC571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133D6EC4-0C67-8C22-7171-5227B15EA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14A3B585-D747-9DF3-D1A6-311178D16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44" name="Freeform 9">
            <a:extLst>
              <a:ext uri="{FF2B5EF4-FFF2-40B4-BE49-F238E27FC236}">
                <a16:creationId xmlns:a16="http://schemas.microsoft.com/office/drawing/2014/main" id="{97A551E8-9498-D046-45E5-F4398F9DA987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53715921-88D2-8BFF-4F25-6F568C2F6E5C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46" name="Freeform 36">
            <a:extLst>
              <a:ext uri="{FF2B5EF4-FFF2-40B4-BE49-F238E27FC236}">
                <a16:creationId xmlns:a16="http://schemas.microsoft.com/office/drawing/2014/main" id="{F85557F8-2D52-2CA7-E86F-86BC4CAF09C9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50B9DE68-2F2A-6934-0EC4-7C36DE13D04F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9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Action</a:t>
            </a:r>
            <a:r>
              <a:rPr lang="ko-KR" altLang="en-US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Value Function </a:t>
            </a:r>
            <a:r>
              <a:rPr lang="en-US" altLang="ko-KR" sz="1400" kern="0" dirty="0">
                <a:solidFill>
                  <a:prstClr val="white">
                    <a:lumMod val="75000"/>
                  </a:prstClr>
                </a:solidFill>
              </a:rPr>
              <a:t>Q-function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955177-5CF2-0992-DB47-0741634FC24E}"/>
              </a:ext>
            </a:extLst>
          </p:cNvPr>
          <p:cNvSpPr/>
          <p:nvPr/>
        </p:nvSpPr>
        <p:spPr>
          <a:xfrm>
            <a:off x="1616588" y="3067775"/>
            <a:ext cx="3651549" cy="1023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 Q-function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그 행동을 했을 때 얻는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반환값의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기댓값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지금 행동으로부터 기대되는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Return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E4D776-D345-5178-EAF5-145CBCA25024}"/>
                  </a:ext>
                </a:extLst>
              </p:cNvPr>
              <p:cNvSpPr txBox="1"/>
              <p:nvPr/>
            </p:nvSpPr>
            <p:spPr>
              <a:xfrm>
                <a:off x="5760863" y="2149066"/>
                <a:ext cx="348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E4D776-D345-5178-EAF5-145CBCA25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63" y="2149066"/>
                <a:ext cx="3487621" cy="276999"/>
              </a:xfrm>
              <a:prstGeom prst="rect">
                <a:avLst/>
              </a:prstGeom>
              <a:blipFill>
                <a:blip r:embed="rId3"/>
                <a:stretch>
                  <a:fillRect l="-699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9CA1A5-CE5C-9BCF-C582-D5F3021F3D63}"/>
                  </a:ext>
                </a:extLst>
              </p:cNvPr>
              <p:cNvSpPr txBox="1"/>
              <p:nvPr/>
            </p:nvSpPr>
            <p:spPr>
              <a:xfrm>
                <a:off x="5763533" y="3620753"/>
                <a:ext cx="5053371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: 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9CA1A5-CE5C-9BCF-C582-D5F3021F3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533" y="3620753"/>
                <a:ext cx="5053371" cy="682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53C84-EEFA-EB50-448C-351D40D89554}"/>
                  </a:ext>
                </a:extLst>
              </p:cNvPr>
              <p:cNvSpPr txBox="1"/>
              <p:nvPr/>
            </p:nvSpPr>
            <p:spPr>
              <a:xfrm>
                <a:off x="5760863" y="4509081"/>
                <a:ext cx="6024983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053C84-EEFA-EB50-448C-351D40D89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863" y="4509081"/>
                <a:ext cx="6024983" cy="6823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4C203A-135A-543B-9E35-BF6D6D422935}"/>
                  </a:ext>
                </a:extLst>
              </p:cNvPr>
              <p:cNvSpPr txBox="1"/>
              <p:nvPr/>
            </p:nvSpPr>
            <p:spPr>
              <a:xfrm>
                <a:off x="5765159" y="2956888"/>
                <a:ext cx="5773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4C203A-135A-543B-9E35-BF6D6D422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159" y="2956888"/>
                <a:ext cx="5773568" cy="276999"/>
              </a:xfrm>
              <a:prstGeom prst="rect">
                <a:avLst/>
              </a:prstGeom>
              <a:blipFill>
                <a:blip r:embed="rId6"/>
                <a:stretch>
                  <a:fillRect l="-1795" t="-28889" b="-5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5DF73CA4-2AC7-3CBC-9731-F86BA97C38CD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FBB17646-2519-7CEE-3516-A41C94615E08}"/>
              </a:ext>
            </a:extLst>
          </p:cNvPr>
          <p:cNvSpPr/>
          <p:nvPr/>
        </p:nvSpPr>
        <p:spPr>
          <a:xfrm>
            <a:off x="-4298" y="1429518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3" name="자유형 23">
            <a:extLst>
              <a:ext uri="{FF2B5EF4-FFF2-40B4-BE49-F238E27FC236}">
                <a16:creationId xmlns:a16="http://schemas.microsoft.com/office/drawing/2014/main" id="{645CC58F-C65C-28B3-7EF9-06B01C8AE212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FDF1E36B-92F8-7BF4-9C3D-62C72A3A63AF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8" name="Group 12">
            <a:extLst>
              <a:ext uri="{FF2B5EF4-FFF2-40B4-BE49-F238E27FC236}">
                <a16:creationId xmlns:a16="http://schemas.microsoft.com/office/drawing/2014/main" id="{CD4CADB9-5828-4D9F-2744-9D4487BA71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2516432-87D0-0732-9C7A-CCC338686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66AE0F08-4232-A388-094F-DE1C778A9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3" name="Freeform 9">
            <a:extLst>
              <a:ext uri="{FF2B5EF4-FFF2-40B4-BE49-F238E27FC236}">
                <a16:creationId xmlns:a16="http://schemas.microsoft.com/office/drawing/2014/main" id="{BE51B10E-E5BC-E316-8F5E-30ACA1A392D0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AC97D8A-101E-D666-B599-F8879132E6B2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6" name="Freeform 36">
            <a:extLst>
              <a:ext uri="{FF2B5EF4-FFF2-40B4-BE49-F238E27FC236}">
                <a16:creationId xmlns:a16="http://schemas.microsoft.com/office/drawing/2014/main" id="{F79FDA69-4C1B-7F47-1862-EE08D41E73A6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023C1949-835F-C0DB-7068-00A2DA005264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14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Optimal Policy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4EFCB1-8355-E01A-F1BE-412EB36CBC85}"/>
              </a:ext>
            </a:extLst>
          </p:cNvPr>
          <p:cNvSpPr/>
          <p:nvPr/>
        </p:nvSpPr>
        <p:spPr>
          <a:xfrm>
            <a:off x="2035564" y="2507290"/>
            <a:ext cx="3651549" cy="376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State Value Function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을 최대화하는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Policy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7B4B8E-F043-CD8C-38BB-78EEA280A978}"/>
                  </a:ext>
                </a:extLst>
              </p:cNvPr>
              <p:cNvSpPr txBox="1"/>
              <p:nvPr/>
            </p:nvSpPr>
            <p:spPr>
              <a:xfrm>
                <a:off x="2137164" y="3476113"/>
                <a:ext cx="6253763" cy="7116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≜ </m:t>
                    </m:r>
                    <m:nary>
                      <m:nary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…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e>
                    </m:nary>
                  </m:oMath>
                </a14:m>
                <a:r>
                  <a:rPr lang="ko-KR" altLang="en-US" dirty="0">
                    <a:solidFill>
                      <a:schemeClr val="bg1">
                        <a:lumMod val="50000"/>
                      </a:schemeClr>
                    </a:solidFill>
                    <a:latin typeface="THE명품고딕L_U" panose="02020603020101020101" pitchFamily="18" charset="-127"/>
                    <a:ea typeface="THE명품고딕L_U" panose="02020603020101020101" pitchFamily="18" charset="-127"/>
                  </a:rPr>
                  <a:t> </a:t>
                </a:r>
                <a:r>
                  <a:rPr lang="ko-KR" altLang="en-US" sz="1200" dirty="0">
                    <a:solidFill>
                      <a:schemeClr val="bg1">
                        <a:lumMod val="50000"/>
                      </a:schemeClr>
                    </a:solidFill>
                    <a:latin typeface="THE명품고딕L_U" panose="02020603020101020101" pitchFamily="18" charset="-127"/>
                    <a:ea typeface="THE명품고딕L_U" panose="02020603020101020101" pitchFamily="18" charset="-127"/>
                  </a:rPr>
                  <a:t>을 최대화하는</a:t>
                </a:r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7B4B8E-F043-CD8C-38BB-78EEA280A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164" y="3476113"/>
                <a:ext cx="6253763" cy="711670"/>
              </a:xfrm>
              <a:prstGeom prst="rect">
                <a:avLst/>
              </a:prstGeom>
              <a:blipFill>
                <a:blip r:embed="rId3"/>
                <a:stretch>
                  <a:fillRect l="-1366" t="-71795" r="-585" b="-743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0F184C-7689-A25A-4105-53366A8901CA}"/>
                  </a:ext>
                </a:extLst>
              </p:cNvPr>
              <p:cNvSpPr txBox="1"/>
              <p:nvPr/>
            </p:nvSpPr>
            <p:spPr>
              <a:xfrm>
                <a:off x="8704658" y="2975591"/>
                <a:ext cx="1350178" cy="1661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ko-KR" altLang="en-US" sz="1200" dirty="0">
                  <a:solidFill>
                    <a:schemeClr val="bg1">
                      <a:lumMod val="50000"/>
                    </a:schemeClr>
                  </a:solidFill>
                  <a:latin typeface="THE명품고딕L_U" panose="02020603020101020101" pitchFamily="18" charset="-127"/>
                  <a:ea typeface="THE명품고딕L_U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0F184C-7689-A25A-4105-53366A890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658" y="2975591"/>
                <a:ext cx="1350178" cy="16619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58CDDA46-C252-D0AE-F3D6-68F69971DDB4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C897E4AE-2953-9FCE-16D1-196ABF3E93F5}"/>
              </a:ext>
            </a:extLst>
          </p:cNvPr>
          <p:cNvSpPr/>
          <p:nvPr/>
        </p:nvSpPr>
        <p:spPr>
          <a:xfrm>
            <a:off x="-4298" y="1429518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자유형 23">
            <a:extLst>
              <a:ext uri="{FF2B5EF4-FFF2-40B4-BE49-F238E27FC236}">
                <a16:creationId xmlns:a16="http://schemas.microsoft.com/office/drawing/2014/main" id="{A258E6F2-DE81-4687-39AF-DADCB6CAA142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15550437-ECAC-74B9-BCE9-D2CEF822A11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AF2ACD-A3D0-5C63-0195-9BA103E806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EC0B2D5D-5EF2-79A5-5C86-BFB71752E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C9B1E193-95A3-FEB1-8ABD-CF69F695A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1EDCF2DE-F3CA-D28C-7690-F4B7F9047964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FC03FCD-607C-4AA6-12F1-834449AF0DA7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934CCC27-B2C3-AC6F-2609-76F2294E8E2B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DBEEE3C-2D1B-EF84-0473-DC60AAF84733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84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Bellman Equation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0CD6F3-FCB8-1DF3-B95F-250BCDEDC8C2}"/>
                  </a:ext>
                </a:extLst>
              </p:cNvPr>
              <p:cNvSpPr txBox="1"/>
              <p:nvPr/>
            </p:nvSpPr>
            <p:spPr>
              <a:xfrm>
                <a:off x="9444326" y="5776902"/>
                <a:ext cx="194643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sz="12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0CD6F3-FCB8-1DF3-B95F-250BCDEDC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326" y="5776902"/>
                <a:ext cx="1946430" cy="553998"/>
              </a:xfrm>
              <a:prstGeom prst="rect">
                <a:avLst/>
              </a:prstGeom>
              <a:blipFill>
                <a:blip r:embed="rId3"/>
                <a:stretch>
                  <a:fillRect l="-2813" b="-6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04696-FB15-D39C-F2F1-B9A4A6AF2CF4}"/>
                  </a:ext>
                </a:extLst>
              </p:cNvPr>
              <p:cNvSpPr txBox="1"/>
              <p:nvPr/>
            </p:nvSpPr>
            <p:spPr>
              <a:xfrm>
                <a:off x="1691222" y="1688785"/>
                <a:ext cx="5394234" cy="681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04696-FB15-D39C-F2F1-B9A4A6AF2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1688785"/>
                <a:ext cx="5394234" cy="6812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5FBD3718-2584-E74F-FCF8-BD5E463C9C8D}"/>
              </a:ext>
            </a:extLst>
          </p:cNvPr>
          <p:cNvSpPr/>
          <p:nvPr/>
        </p:nvSpPr>
        <p:spPr>
          <a:xfrm>
            <a:off x="3581400" y="1841723"/>
            <a:ext cx="2667000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7A7B22-35D9-7CC1-CBB5-2D99EDB0CD99}"/>
                  </a:ext>
                </a:extLst>
              </p:cNvPr>
              <p:cNvSpPr txBox="1"/>
              <p:nvPr/>
            </p:nvSpPr>
            <p:spPr>
              <a:xfrm>
                <a:off x="1691222" y="3438428"/>
                <a:ext cx="7477816" cy="6909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7A7B22-35D9-7CC1-CBB5-2D99EDB0C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3438428"/>
                <a:ext cx="7477816" cy="6909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9F04D-7648-97F1-4FE8-A49E3352D982}"/>
                  </a:ext>
                </a:extLst>
              </p:cNvPr>
              <p:cNvSpPr txBox="1"/>
              <p:nvPr/>
            </p:nvSpPr>
            <p:spPr>
              <a:xfrm>
                <a:off x="1691222" y="2534114"/>
                <a:ext cx="6024983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9F04D-7648-97F1-4FE8-A49E3352D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2534114"/>
                <a:ext cx="6024983" cy="6823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314A18-EF18-3D19-6F62-EBAF591C71F2}"/>
              </a:ext>
            </a:extLst>
          </p:cNvPr>
          <p:cNvSpPr/>
          <p:nvPr/>
        </p:nvSpPr>
        <p:spPr>
          <a:xfrm>
            <a:off x="4096630" y="3629905"/>
            <a:ext cx="2696056" cy="362508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8508BFA-FE87-A84F-EE9C-770F82A2650E}"/>
              </a:ext>
            </a:extLst>
          </p:cNvPr>
          <p:cNvSpPr/>
          <p:nvPr/>
        </p:nvSpPr>
        <p:spPr>
          <a:xfrm>
            <a:off x="7821010" y="3602653"/>
            <a:ext cx="906486" cy="362508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ED2AE2-824F-BCE1-41B0-416A6BF83917}"/>
                  </a:ext>
                </a:extLst>
              </p:cNvPr>
              <p:cNvSpPr txBox="1"/>
              <p:nvPr/>
            </p:nvSpPr>
            <p:spPr>
              <a:xfrm>
                <a:off x="1691222" y="4353642"/>
                <a:ext cx="3511987" cy="681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ED2AE2-824F-BCE1-41B0-416A6BF83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4353642"/>
                <a:ext cx="3511987" cy="6812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8E2DD5A-AC1B-FE78-B37E-5BFF683B91C7}"/>
              </a:ext>
            </a:extLst>
          </p:cNvPr>
          <p:cNvSpPr txBox="1"/>
          <p:nvPr/>
        </p:nvSpPr>
        <p:spPr>
          <a:xfrm>
            <a:off x="9351223" y="5499903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Beysian</a:t>
            </a:r>
            <a:r>
              <a:rPr lang="en-US" altLang="ko-KR" sz="1200" dirty="0"/>
              <a:t> Rule</a:t>
            </a:r>
            <a:endParaRPr lang="ko-KR" altLang="en-US" sz="1200" dirty="0"/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F84D0AAF-BA61-31FF-1994-18631A7813F2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19607775-86F6-6C87-25F3-921E4E763CE6}"/>
              </a:ext>
            </a:extLst>
          </p:cNvPr>
          <p:cNvSpPr/>
          <p:nvPr/>
        </p:nvSpPr>
        <p:spPr>
          <a:xfrm>
            <a:off x="-4298" y="208788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2" name="자유형 23">
            <a:extLst>
              <a:ext uri="{FF2B5EF4-FFF2-40B4-BE49-F238E27FC236}">
                <a16:creationId xmlns:a16="http://schemas.microsoft.com/office/drawing/2014/main" id="{E8F0F3FC-0831-324F-D8D1-3E1CAC3F9BBB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D968BA3D-C673-523C-3DC0-0C57AF9B7D75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5" name="Group 12">
            <a:extLst>
              <a:ext uri="{FF2B5EF4-FFF2-40B4-BE49-F238E27FC236}">
                <a16:creationId xmlns:a16="http://schemas.microsoft.com/office/drawing/2014/main" id="{6B036079-A921-4590-65C6-33B3324DA0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0493F08E-C7DF-7FC1-A63C-860A11389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62321BDB-D6CE-3037-0B2E-5FCB82CCF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8" name="Freeform 9">
            <a:extLst>
              <a:ext uri="{FF2B5EF4-FFF2-40B4-BE49-F238E27FC236}">
                <a16:creationId xmlns:a16="http://schemas.microsoft.com/office/drawing/2014/main" id="{40C48487-4FCB-A7BA-3024-08790D61E694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C694F20-1F6C-2E44-AEB3-D0BC97B9152F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23053764-2FC4-0816-3812-EBA5D8A059BA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B014291-855C-5A51-11BE-3D105B2E4BE5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493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Bellman Equation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ED2AE2-824F-BCE1-41B0-416A6BF83917}"/>
                  </a:ext>
                </a:extLst>
              </p:cNvPr>
              <p:cNvSpPr txBox="1"/>
              <p:nvPr/>
            </p:nvSpPr>
            <p:spPr>
              <a:xfrm>
                <a:off x="2050450" y="1994072"/>
                <a:ext cx="3511987" cy="681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ED2AE2-824F-BCE1-41B0-416A6BF83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450" y="1994072"/>
                <a:ext cx="3511987" cy="6812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C19ABC8B-6BFA-3BB5-F0DF-0B4D68C54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109374"/>
              </p:ext>
            </p:extLst>
          </p:nvPr>
        </p:nvGraphicFramePr>
        <p:xfrm>
          <a:off x="7026270" y="2377557"/>
          <a:ext cx="3010515" cy="2290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505">
                  <a:extLst>
                    <a:ext uri="{9D8B030D-6E8A-4147-A177-3AD203B41FA5}">
                      <a16:colId xmlns:a16="http://schemas.microsoft.com/office/drawing/2014/main" val="1188596801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564611369"/>
                    </a:ext>
                  </a:extLst>
                </a:gridCol>
                <a:gridCol w="1003505">
                  <a:extLst>
                    <a:ext uri="{9D8B030D-6E8A-4147-A177-3AD203B41FA5}">
                      <a16:colId xmlns:a16="http://schemas.microsoft.com/office/drawing/2014/main" val="3472604077"/>
                    </a:ext>
                  </a:extLst>
                </a:gridCol>
              </a:tblGrid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6383E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14887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849358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89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895363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D891F129-677B-F6CD-51C7-5A7858E356AF}"/>
              </a:ext>
            </a:extLst>
          </p:cNvPr>
          <p:cNvGrpSpPr/>
          <p:nvPr/>
        </p:nvGrpSpPr>
        <p:grpSpPr>
          <a:xfrm>
            <a:off x="7026270" y="1461961"/>
            <a:ext cx="1349231" cy="567463"/>
            <a:chOff x="3045216" y="1549872"/>
            <a:chExt cx="1349231" cy="567463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9868092-E0E9-0FD1-923F-CEC2F15FB1C1}"/>
                </a:ext>
              </a:extLst>
            </p:cNvPr>
            <p:cNvSpPr/>
            <p:nvPr/>
          </p:nvSpPr>
          <p:spPr>
            <a:xfrm>
              <a:off x="3276036" y="1549872"/>
              <a:ext cx="1118411" cy="5674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시작</a:t>
              </a:r>
              <a:endParaRPr lang="en-US" altLang="ko-KR" sz="11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100" dirty="0">
                  <a:solidFill>
                    <a:schemeClr val="bg1">
                      <a:lumMod val="50000"/>
                    </a:schemeClr>
                  </a:solidFill>
                </a:rPr>
                <a:t>= </a:t>
              </a:r>
              <a:r>
                <a:rPr lang="ko-KR" altLang="en-US" sz="1100" dirty="0">
                  <a:solidFill>
                    <a:schemeClr val="bg1">
                      <a:lumMod val="50000"/>
                    </a:schemeClr>
                  </a:solidFill>
                </a:rPr>
                <a:t>도착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FD5A91D-F24F-BB85-2F7C-91B955E5A7E2}"/>
                </a:ext>
              </a:extLst>
            </p:cNvPr>
            <p:cNvSpPr/>
            <p:nvPr/>
          </p:nvSpPr>
          <p:spPr>
            <a:xfrm>
              <a:off x="3045216" y="1669003"/>
              <a:ext cx="230820" cy="157624"/>
            </a:xfrm>
            <a:prstGeom prst="rect">
              <a:avLst/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C69FBEB-B76E-90F8-9A81-CE15FA964110}"/>
                </a:ext>
              </a:extLst>
            </p:cNvPr>
            <p:cNvSpPr/>
            <p:nvPr/>
          </p:nvSpPr>
          <p:spPr>
            <a:xfrm>
              <a:off x="3045216" y="1924051"/>
              <a:ext cx="230820" cy="157624"/>
            </a:xfrm>
            <a:prstGeom prst="rect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별: 꼭짓점 5개 25">
            <a:extLst>
              <a:ext uri="{FF2B5EF4-FFF2-40B4-BE49-F238E27FC236}">
                <a16:creationId xmlns:a16="http://schemas.microsoft.com/office/drawing/2014/main" id="{DF6F103E-FACA-CC49-1A31-54217EE5C2D5}"/>
              </a:ext>
            </a:extLst>
          </p:cNvPr>
          <p:cNvSpPr/>
          <p:nvPr/>
        </p:nvSpPr>
        <p:spPr>
          <a:xfrm>
            <a:off x="9280934" y="3241858"/>
            <a:ext cx="563327" cy="550416"/>
          </a:xfrm>
          <a:prstGeom prst="star5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23C6AB2-EBAB-152B-75FA-1936ED71515E}"/>
              </a:ext>
            </a:extLst>
          </p:cNvPr>
          <p:cNvCxnSpPr>
            <a:cxnSpLocks/>
          </p:cNvCxnSpPr>
          <p:nvPr/>
        </p:nvCxnSpPr>
        <p:spPr>
          <a:xfrm>
            <a:off x="9561029" y="3720988"/>
            <a:ext cx="0" cy="40927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9B7B523-22F2-EE24-54D0-39BDA6D492A6}"/>
              </a:ext>
            </a:extLst>
          </p:cNvPr>
          <p:cNvCxnSpPr/>
          <p:nvPr/>
        </p:nvCxnSpPr>
        <p:spPr>
          <a:xfrm flipH="1">
            <a:off x="8773297" y="3527854"/>
            <a:ext cx="457200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BAC11C-F203-344A-A037-95CCEC292547}"/>
              </a:ext>
            </a:extLst>
          </p:cNvPr>
          <p:cNvCxnSpPr>
            <a:cxnSpLocks/>
          </p:cNvCxnSpPr>
          <p:nvPr/>
        </p:nvCxnSpPr>
        <p:spPr>
          <a:xfrm>
            <a:off x="8572488" y="3720988"/>
            <a:ext cx="0" cy="409274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1D22FBA-DA92-B439-8D86-B8238457CE91}"/>
              </a:ext>
            </a:extLst>
          </p:cNvPr>
          <p:cNvCxnSpPr>
            <a:cxnSpLocks/>
          </p:cNvCxnSpPr>
          <p:nvPr/>
        </p:nvCxnSpPr>
        <p:spPr>
          <a:xfrm>
            <a:off x="8853616" y="4324864"/>
            <a:ext cx="427318" cy="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E1FF56-A1A1-37EF-B83A-241D1CF79631}"/>
              </a:ext>
            </a:extLst>
          </p:cNvPr>
          <p:cNvSpPr/>
          <p:nvPr/>
        </p:nvSpPr>
        <p:spPr>
          <a:xfrm>
            <a:off x="8201022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1.0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22D6F2-9A96-79CE-1FE8-F764B8E6982C}"/>
              </a:ext>
            </a:extLst>
          </p:cNvPr>
          <p:cNvSpPr/>
          <p:nvPr/>
        </p:nvSpPr>
        <p:spPr>
          <a:xfrm>
            <a:off x="9001897" y="4276060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1.0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DD79657-4109-219B-32A7-083701A79050}"/>
              </a:ext>
            </a:extLst>
          </p:cNvPr>
          <p:cNvSpPr/>
          <p:nvPr/>
        </p:nvSpPr>
        <p:spPr>
          <a:xfrm>
            <a:off x="9001823" y="3209296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92D050"/>
                </a:solidFill>
              </a:rPr>
              <a:t>0.1</a:t>
            </a:r>
            <a:endParaRPr lang="ko-KR" altLang="en-US" sz="1100" dirty="0">
              <a:solidFill>
                <a:srgbClr val="92D05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1F7722A-0015-3D8F-3EC9-4F8C0B489F0B}"/>
              </a:ext>
            </a:extLst>
          </p:cNvPr>
          <p:cNvSpPr/>
          <p:nvPr/>
        </p:nvSpPr>
        <p:spPr>
          <a:xfrm>
            <a:off x="9559501" y="3816715"/>
            <a:ext cx="11184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2060"/>
                </a:solidFill>
              </a:rPr>
              <a:t>0.9</a:t>
            </a:r>
            <a:endParaRPr lang="ko-KR" altLang="en-US" sz="11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9616D87-1D15-21DB-305B-C414A1BF57CD}"/>
                  </a:ext>
                </a:extLst>
              </p:cNvPr>
              <p:cNvSpPr txBox="1"/>
              <p:nvPr/>
            </p:nvSpPr>
            <p:spPr>
              <a:xfrm>
                <a:off x="2050450" y="4187128"/>
                <a:ext cx="4815968" cy="382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0.9 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𝑛𝑎𝑣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0.1 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9616D87-1D15-21DB-305B-C414A1BF5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450" y="4187128"/>
                <a:ext cx="4815968" cy="382964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직사각형 39">
            <a:extLst>
              <a:ext uri="{FF2B5EF4-FFF2-40B4-BE49-F238E27FC236}">
                <a16:creationId xmlns:a16="http://schemas.microsoft.com/office/drawing/2014/main" id="{01F2B57A-8645-5285-427D-30A5B24103A8}"/>
              </a:ext>
            </a:extLst>
          </p:cNvPr>
          <p:cNvSpPr/>
          <p:nvPr/>
        </p:nvSpPr>
        <p:spPr>
          <a:xfrm>
            <a:off x="2050450" y="3737317"/>
            <a:ext cx="4735752" cy="3361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현재 상태에서 각각의 액션을 취했을 때 얻을 수 있는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Q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값들의 평균</a:t>
            </a:r>
          </a:p>
        </p:txBody>
      </p:sp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9E699E55-D9B4-54B7-C1E7-38B59D7A1D38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8C82855B-8B59-5EF4-DE99-BD58FCF00F9F}"/>
              </a:ext>
            </a:extLst>
          </p:cNvPr>
          <p:cNvSpPr/>
          <p:nvPr/>
        </p:nvSpPr>
        <p:spPr>
          <a:xfrm>
            <a:off x="-4298" y="208788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자유형 23">
            <a:extLst>
              <a:ext uri="{FF2B5EF4-FFF2-40B4-BE49-F238E27FC236}">
                <a16:creationId xmlns:a16="http://schemas.microsoft.com/office/drawing/2014/main" id="{A77360E8-AF6D-36EE-F764-220278AC1D90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457C7FE-8903-CF95-623C-8B739FB35AC9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E26D670-C5F5-D594-FB4C-87DF2BE657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4191D81-4380-AEAA-3856-1BC6096A7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F6E5D6F4-C611-CC46-638F-6FB82ABAF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8" name="Freeform 9">
            <a:extLst>
              <a:ext uri="{FF2B5EF4-FFF2-40B4-BE49-F238E27FC236}">
                <a16:creationId xmlns:a16="http://schemas.microsoft.com/office/drawing/2014/main" id="{9382FB99-D0D9-BA0F-6319-CB0D0AAE15EC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4179BE9-7E9E-59EB-80B2-AB08A0030118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44" name="Freeform 36">
            <a:extLst>
              <a:ext uri="{FF2B5EF4-FFF2-40B4-BE49-F238E27FC236}">
                <a16:creationId xmlns:a16="http://schemas.microsoft.com/office/drawing/2014/main" id="{6C7293CB-500A-4E03-9E55-52AAC16E604A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F413ED31-5B07-9D55-939E-7BE5914D58ED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64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Bellman Equation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C4AA6-CB7B-20A2-9153-37F7CD9D78BD}"/>
                  </a:ext>
                </a:extLst>
              </p:cNvPr>
              <p:cNvSpPr txBox="1"/>
              <p:nvPr/>
            </p:nvSpPr>
            <p:spPr>
              <a:xfrm>
                <a:off x="1691222" y="1252746"/>
                <a:ext cx="51927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C4AA6-CB7B-20A2-9153-37F7CD9D7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1252746"/>
                <a:ext cx="5192767" cy="276999"/>
              </a:xfrm>
              <a:prstGeom prst="rect">
                <a:avLst/>
              </a:prstGeom>
              <a:blipFill>
                <a:blip r:embed="rId3"/>
                <a:stretch>
                  <a:fillRect l="-235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F6ADBC-7261-BD4D-FC2D-375936BDDBC8}"/>
                  </a:ext>
                </a:extLst>
              </p:cNvPr>
              <p:cNvSpPr txBox="1"/>
              <p:nvPr/>
            </p:nvSpPr>
            <p:spPr>
              <a:xfrm>
                <a:off x="1691222" y="2644791"/>
                <a:ext cx="8800551" cy="6909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F6ADBC-7261-BD4D-FC2D-375936BDD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2644791"/>
                <a:ext cx="8800551" cy="6909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C69281-838F-2C48-E157-A709949424AE}"/>
                  </a:ext>
                </a:extLst>
              </p:cNvPr>
              <p:cNvSpPr txBox="1"/>
              <p:nvPr/>
            </p:nvSpPr>
            <p:spPr>
              <a:xfrm>
                <a:off x="1691222" y="1799635"/>
                <a:ext cx="5394234" cy="681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C69281-838F-2C48-E157-A70994942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1799635"/>
                <a:ext cx="5394234" cy="6812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89F432-0FD4-69F7-B1C6-FABD7838E951}"/>
              </a:ext>
            </a:extLst>
          </p:cNvPr>
          <p:cNvSpPr/>
          <p:nvPr/>
        </p:nvSpPr>
        <p:spPr>
          <a:xfrm>
            <a:off x="3581400" y="1952573"/>
            <a:ext cx="2667000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B3A970-2EA4-CCA3-8013-39B97468A644}"/>
              </a:ext>
            </a:extLst>
          </p:cNvPr>
          <p:cNvSpPr/>
          <p:nvPr/>
        </p:nvSpPr>
        <p:spPr>
          <a:xfrm>
            <a:off x="4418456" y="2836268"/>
            <a:ext cx="2667000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69F0094-2807-370E-5927-C380D16A7794}"/>
              </a:ext>
            </a:extLst>
          </p:cNvPr>
          <p:cNvSpPr/>
          <p:nvPr/>
        </p:nvSpPr>
        <p:spPr>
          <a:xfrm>
            <a:off x="8188885" y="2836268"/>
            <a:ext cx="1336855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D50A0B3-E7CF-2C8D-0B89-C4FCADB1FE4C}"/>
                  </a:ext>
                </a:extLst>
              </p:cNvPr>
              <p:cNvSpPr txBox="1"/>
              <p:nvPr/>
            </p:nvSpPr>
            <p:spPr>
              <a:xfrm>
                <a:off x="1691222" y="3537893"/>
                <a:ext cx="9578776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D50A0B3-E7CF-2C8D-0B89-C4FCADB1F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3537893"/>
                <a:ext cx="9578776" cy="6823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D2B1F4-CB6E-E5BB-1730-043D430AAF99}"/>
              </a:ext>
            </a:extLst>
          </p:cNvPr>
          <p:cNvSpPr/>
          <p:nvPr/>
        </p:nvSpPr>
        <p:spPr>
          <a:xfrm>
            <a:off x="5055191" y="3729370"/>
            <a:ext cx="3764131" cy="383576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9436ED-A2CF-601B-B3A5-5AB56720B203}"/>
              </a:ext>
            </a:extLst>
          </p:cNvPr>
          <p:cNvSpPr/>
          <p:nvPr/>
        </p:nvSpPr>
        <p:spPr>
          <a:xfrm>
            <a:off x="3338004" y="3499627"/>
            <a:ext cx="798990" cy="789697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48503D-DF81-E88E-69CD-A8ADEA1BFDC6}"/>
                  </a:ext>
                </a:extLst>
              </p:cNvPr>
              <p:cNvSpPr txBox="1"/>
              <p:nvPr/>
            </p:nvSpPr>
            <p:spPr>
              <a:xfrm>
                <a:off x="1691222" y="4349393"/>
                <a:ext cx="5598905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48503D-DF81-E88E-69CD-A8ADEA1BF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4349393"/>
                <a:ext cx="5598905" cy="6823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02C00C6-CCD0-1651-887D-BDC7ECEE5900}"/>
              </a:ext>
            </a:extLst>
          </p:cNvPr>
          <p:cNvSpPr txBox="1"/>
          <p:nvPr/>
        </p:nvSpPr>
        <p:spPr>
          <a:xfrm>
            <a:off x="7458604" y="4592861"/>
            <a:ext cx="3608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두 개의 변수에 대해서만 적분하면 되는 장점</a:t>
            </a:r>
            <a:endParaRPr lang="en-US" altLang="ko-KR" sz="1400" b="1" dirty="0">
              <a:solidFill>
                <a:srgbClr val="A2A2A2"/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423A3C-6F03-FDB9-D42A-88B77DC81C50}"/>
                  </a:ext>
                </a:extLst>
              </p:cNvPr>
              <p:cNvSpPr txBox="1"/>
              <p:nvPr/>
            </p:nvSpPr>
            <p:spPr>
              <a:xfrm>
                <a:off x="4350509" y="5111686"/>
                <a:ext cx="29396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423A3C-6F03-FDB9-D42A-88B77DC81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509" y="5111686"/>
                <a:ext cx="2939618" cy="369332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672D2585-E59D-F60D-86DC-839505C186AA}"/>
              </a:ext>
            </a:extLst>
          </p:cNvPr>
          <p:cNvGrpSpPr/>
          <p:nvPr/>
        </p:nvGrpSpPr>
        <p:grpSpPr>
          <a:xfrm>
            <a:off x="5055191" y="4900638"/>
            <a:ext cx="1292343" cy="195145"/>
            <a:chOff x="5055191" y="4900638"/>
            <a:chExt cx="1292343" cy="195145"/>
          </a:xfrm>
        </p:grpSpPr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246A3001-2A32-64C5-4FBB-B62D03F52C2C}"/>
                </a:ext>
              </a:extLst>
            </p:cNvPr>
            <p:cNvCxnSpPr>
              <a:cxnSpLocks/>
            </p:cNvCxnSpPr>
            <p:nvPr/>
          </p:nvCxnSpPr>
          <p:spPr>
            <a:xfrm>
              <a:off x="5055191" y="4900638"/>
              <a:ext cx="1292343" cy="0"/>
            </a:xfrm>
            <a:prstGeom prst="line">
              <a:avLst/>
            </a:prstGeom>
            <a:ln w="12700">
              <a:solidFill>
                <a:srgbClr val="6383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A1E4EC85-AC22-4CA7-0829-02B42075DB36}"/>
                </a:ext>
              </a:extLst>
            </p:cNvPr>
            <p:cNvCxnSpPr/>
            <p:nvPr/>
          </p:nvCxnSpPr>
          <p:spPr>
            <a:xfrm>
              <a:off x="5726097" y="4900638"/>
              <a:ext cx="0" cy="195145"/>
            </a:xfrm>
            <a:prstGeom prst="straightConnector1">
              <a:avLst/>
            </a:prstGeom>
            <a:ln w="12700">
              <a:solidFill>
                <a:srgbClr val="6383E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B7E58D6-3478-5D5A-BB51-D598545B457C}"/>
              </a:ext>
            </a:extLst>
          </p:cNvPr>
          <p:cNvGrpSpPr/>
          <p:nvPr/>
        </p:nvGrpSpPr>
        <p:grpSpPr>
          <a:xfrm>
            <a:off x="4673451" y="5491704"/>
            <a:ext cx="1292343" cy="287659"/>
            <a:chOff x="5055191" y="4900638"/>
            <a:chExt cx="1292343" cy="287659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73D0E75A-9CFF-2EB4-7EF9-13A740D9A102}"/>
                </a:ext>
              </a:extLst>
            </p:cNvPr>
            <p:cNvCxnSpPr>
              <a:cxnSpLocks/>
            </p:cNvCxnSpPr>
            <p:nvPr/>
          </p:nvCxnSpPr>
          <p:spPr>
            <a:xfrm>
              <a:off x="5055191" y="4900638"/>
              <a:ext cx="1292343" cy="0"/>
            </a:xfrm>
            <a:prstGeom prst="line">
              <a:avLst/>
            </a:prstGeom>
            <a:ln w="12700">
              <a:solidFill>
                <a:srgbClr val="6383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30595876-888F-818B-E092-81F21EA3CF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6931" y="4900638"/>
              <a:ext cx="289166" cy="287659"/>
            </a:xfrm>
            <a:prstGeom prst="straightConnector1">
              <a:avLst/>
            </a:prstGeom>
            <a:ln w="12700">
              <a:solidFill>
                <a:srgbClr val="6383E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B77FF32-4067-6249-760E-2985DB379B07}"/>
              </a:ext>
            </a:extLst>
          </p:cNvPr>
          <p:cNvGrpSpPr/>
          <p:nvPr/>
        </p:nvGrpSpPr>
        <p:grpSpPr>
          <a:xfrm>
            <a:off x="6034128" y="5491704"/>
            <a:ext cx="849861" cy="287659"/>
            <a:chOff x="5055191" y="4900638"/>
            <a:chExt cx="1292343" cy="287659"/>
          </a:xfrm>
        </p:grpSpPr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56750D8-CDBB-F6B3-9663-406032C486D6}"/>
                </a:ext>
              </a:extLst>
            </p:cNvPr>
            <p:cNvCxnSpPr>
              <a:cxnSpLocks/>
            </p:cNvCxnSpPr>
            <p:nvPr/>
          </p:nvCxnSpPr>
          <p:spPr>
            <a:xfrm>
              <a:off x="5055191" y="4900638"/>
              <a:ext cx="1292343" cy="0"/>
            </a:xfrm>
            <a:prstGeom prst="line">
              <a:avLst/>
            </a:prstGeom>
            <a:ln w="12700">
              <a:solidFill>
                <a:srgbClr val="6383E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FE25A3A5-B3AB-2E66-304D-327777A5CE0C}"/>
                </a:ext>
              </a:extLst>
            </p:cNvPr>
            <p:cNvCxnSpPr>
              <a:cxnSpLocks/>
            </p:cNvCxnSpPr>
            <p:nvPr/>
          </p:nvCxnSpPr>
          <p:spPr>
            <a:xfrm>
              <a:off x="5726097" y="4900638"/>
              <a:ext cx="440168" cy="287659"/>
            </a:xfrm>
            <a:prstGeom prst="straightConnector1">
              <a:avLst/>
            </a:prstGeom>
            <a:ln w="12700">
              <a:solidFill>
                <a:srgbClr val="6383E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F2F35B2-8D6C-D2CF-BAED-847FE7DD7F77}"/>
              </a:ext>
            </a:extLst>
          </p:cNvPr>
          <p:cNvSpPr txBox="1"/>
          <p:nvPr/>
        </p:nvSpPr>
        <p:spPr>
          <a:xfrm>
            <a:off x="3672667" y="5779363"/>
            <a:ext cx="2237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Transition Probability</a:t>
            </a:r>
          </a:p>
          <a:p>
            <a:pPr algn="ctr"/>
            <a:r>
              <a:rPr lang="ko-KR" altLang="en-US" sz="1400" b="1" dirty="0" err="1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상태천이확률</a:t>
            </a:r>
            <a:endParaRPr lang="en-US" altLang="ko-KR" sz="1400" b="1" dirty="0">
              <a:solidFill>
                <a:srgbClr val="A2A2A2"/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EA3938C-7061-AF01-E0C0-7AFC2DE0D0A6}"/>
              </a:ext>
            </a:extLst>
          </p:cNvPr>
          <p:cNvSpPr txBox="1"/>
          <p:nvPr/>
        </p:nvSpPr>
        <p:spPr>
          <a:xfrm>
            <a:off x="6248400" y="5779363"/>
            <a:ext cx="1137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Policy</a:t>
            </a:r>
          </a:p>
          <a:p>
            <a:pPr algn="ctr"/>
            <a:r>
              <a:rPr lang="ko-KR" altLang="en-US" sz="1400" b="1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정책</a:t>
            </a:r>
            <a:endParaRPr lang="en-US" altLang="ko-KR" sz="1400" b="1" dirty="0">
              <a:solidFill>
                <a:srgbClr val="A2A2A2"/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F8E2F3-DDFF-BA0F-0EE4-402D4B9CA04F}"/>
                  </a:ext>
                </a:extLst>
              </p:cNvPr>
              <p:cNvSpPr txBox="1"/>
              <p:nvPr/>
            </p:nvSpPr>
            <p:spPr>
              <a:xfrm>
                <a:off x="1691222" y="6388467"/>
                <a:ext cx="42972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F8E2F3-DDFF-BA0F-0EE4-402D4B9CA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6388467"/>
                <a:ext cx="4297266" cy="276999"/>
              </a:xfrm>
              <a:prstGeom prst="rect">
                <a:avLst/>
              </a:prstGeom>
              <a:blipFill>
                <a:blip r:embed="rId9"/>
                <a:stretch>
                  <a:fillRect l="-426" r="-1418" b="-4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사각형: 둥근 위쪽 모서리 55">
            <a:extLst>
              <a:ext uri="{FF2B5EF4-FFF2-40B4-BE49-F238E27FC236}">
                <a16:creationId xmlns:a16="http://schemas.microsoft.com/office/drawing/2014/main" id="{16494807-D798-330F-3CBA-406F59AA2D98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ED382566-799B-67E5-85FA-A97627B52F9D}"/>
              </a:ext>
            </a:extLst>
          </p:cNvPr>
          <p:cNvSpPr/>
          <p:nvPr/>
        </p:nvSpPr>
        <p:spPr>
          <a:xfrm>
            <a:off x="-4298" y="208788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8" name="자유형 23">
            <a:extLst>
              <a:ext uri="{FF2B5EF4-FFF2-40B4-BE49-F238E27FC236}">
                <a16:creationId xmlns:a16="http://schemas.microsoft.com/office/drawing/2014/main" id="{675167EE-6701-DD3A-2C47-2B367F5CACB5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9" name="Freeform 6">
            <a:extLst>
              <a:ext uri="{FF2B5EF4-FFF2-40B4-BE49-F238E27FC236}">
                <a16:creationId xmlns:a16="http://schemas.microsoft.com/office/drawing/2014/main" id="{2FF1F93F-38CC-7516-B89A-A82C378D3B0F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55BB3829-F73B-ADAE-CB84-1FEB12C27D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77DE618C-E102-7FE2-2903-0400864D1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14">
              <a:extLst>
                <a:ext uri="{FF2B5EF4-FFF2-40B4-BE49-F238E27FC236}">
                  <a16:creationId xmlns:a16="http://schemas.microsoft.com/office/drawing/2014/main" id="{766A1C87-944A-4B0C-9631-B4CB84C11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3" name="Freeform 9">
            <a:extLst>
              <a:ext uri="{FF2B5EF4-FFF2-40B4-BE49-F238E27FC236}">
                <a16:creationId xmlns:a16="http://schemas.microsoft.com/office/drawing/2014/main" id="{635DFE3F-CC71-A27C-A74C-5EEE57CD897E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2622AD4B-A222-B28E-0EF5-F55F9CA8B1B1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65" name="Freeform 36">
            <a:extLst>
              <a:ext uri="{FF2B5EF4-FFF2-40B4-BE49-F238E27FC236}">
                <a16:creationId xmlns:a16="http://schemas.microsoft.com/office/drawing/2014/main" id="{537F2FFE-8317-0650-3E7B-2126C9F356D4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C7644564-9539-40C4-4864-7B542FFA375B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703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Bellman Equation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0CD6F3-FCB8-1DF3-B95F-250BCDEDC8C2}"/>
                  </a:ext>
                </a:extLst>
              </p:cNvPr>
              <p:cNvSpPr txBox="1"/>
              <p:nvPr/>
            </p:nvSpPr>
            <p:spPr>
              <a:xfrm>
                <a:off x="9444326" y="5776902"/>
                <a:ext cx="194643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sz="12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0CD6F3-FCB8-1DF3-B95F-250BCDEDC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326" y="5776902"/>
                <a:ext cx="1946430" cy="553998"/>
              </a:xfrm>
              <a:prstGeom prst="rect">
                <a:avLst/>
              </a:prstGeom>
              <a:blipFill>
                <a:blip r:embed="rId3"/>
                <a:stretch>
                  <a:fillRect l="-2813" b="-6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9F04D-7648-97F1-4FE8-A49E3352D982}"/>
                  </a:ext>
                </a:extLst>
              </p:cNvPr>
              <p:cNvSpPr txBox="1"/>
              <p:nvPr/>
            </p:nvSpPr>
            <p:spPr>
              <a:xfrm>
                <a:off x="1691222" y="1997816"/>
                <a:ext cx="6024983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9F04D-7648-97F1-4FE8-A49E3352D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1997816"/>
                <a:ext cx="6024983" cy="682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8E2DD5A-AC1B-FE78-B37E-5BFF683B91C7}"/>
              </a:ext>
            </a:extLst>
          </p:cNvPr>
          <p:cNvSpPr txBox="1"/>
          <p:nvPr/>
        </p:nvSpPr>
        <p:spPr>
          <a:xfrm>
            <a:off x="9351223" y="5499903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Beysian</a:t>
            </a:r>
            <a:r>
              <a:rPr lang="en-US" altLang="ko-KR" sz="1200" dirty="0"/>
              <a:t> Rule</a:t>
            </a:r>
            <a:endParaRPr lang="ko-KR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DF5B93-4B43-1257-30C5-8572C04A101F}"/>
                  </a:ext>
                </a:extLst>
              </p:cNvPr>
              <p:cNvSpPr txBox="1"/>
              <p:nvPr/>
            </p:nvSpPr>
            <p:spPr>
              <a:xfrm>
                <a:off x="2556769" y="2851507"/>
                <a:ext cx="8700117" cy="774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…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DF5B93-4B43-1257-30C5-8572C04A1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769" y="2851507"/>
                <a:ext cx="8700117" cy="7746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FB5E97-2900-7C21-0D86-CDD13D057BA0}"/>
              </a:ext>
            </a:extLst>
          </p:cNvPr>
          <p:cNvSpPr/>
          <p:nvPr/>
        </p:nvSpPr>
        <p:spPr>
          <a:xfrm>
            <a:off x="4060795" y="2147211"/>
            <a:ext cx="2667000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406C9C-25DA-73EA-6A19-DF52B4820CBA}"/>
              </a:ext>
            </a:extLst>
          </p:cNvPr>
          <p:cNvSpPr/>
          <p:nvPr/>
        </p:nvSpPr>
        <p:spPr>
          <a:xfrm>
            <a:off x="5623265" y="3091106"/>
            <a:ext cx="2597457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516FFCD-1154-EAEB-4818-7FE4840A3B2C}"/>
              </a:ext>
            </a:extLst>
          </p:cNvPr>
          <p:cNvSpPr/>
          <p:nvPr/>
        </p:nvSpPr>
        <p:spPr>
          <a:xfrm>
            <a:off x="9305595" y="3102449"/>
            <a:ext cx="1400875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13ECB7-885C-DB14-31B1-200506F22721}"/>
                  </a:ext>
                </a:extLst>
              </p:cNvPr>
              <p:cNvSpPr txBox="1"/>
              <p:nvPr/>
            </p:nvSpPr>
            <p:spPr>
              <a:xfrm>
                <a:off x="2556769" y="3796952"/>
                <a:ext cx="4708034" cy="774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13ECB7-885C-DB14-31B1-200506F22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769" y="3796952"/>
                <a:ext cx="4708034" cy="774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사각형: 둥근 위쪽 모서리 26">
            <a:extLst>
              <a:ext uri="{FF2B5EF4-FFF2-40B4-BE49-F238E27FC236}">
                <a16:creationId xmlns:a16="http://schemas.microsoft.com/office/drawing/2014/main" id="{D7399167-C8C9-1988-7488-876E42C416BC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F2862287-0459-8049-3D50-6F1F0535B890}"/>
              </a:ext>
            </a:extLst>
          </p:cNvPr>
          <p:cNvSpPr/>
          <p:nvPr/>
        </p:nvSpPr>
        <p:spPr>
          <a:xfrm>
            <a:off x="-4298" y="208788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9" name="자유형 23">
            <a:extLst>
              <a:ext uri="{FF2B5EF4-FFF2-40B4-BE49-F238E27FC236}">
                <a16:creationId xmlns:a16="http://schemas.microsoft.com/office/drawing/2014/main" id="{71E818A0-BBFC-993F-404C-490751364F8D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7369FFCF-84F4-2601-CCA7-AF62C98DBEA8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1" name="Group 12">
            <a:extLst>
              <a:ext uri="{FF2B5EF4-FFF2-40B4-BE49-F238E27FC236}">
                <a16:creationId xmlns:a16="http://schemas.microsoft.com/office/drawing/2014/main" id="{1D597E77-86D3-1332-7DB7-288ACD0324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9CC00A8A-E975-498E-1342-81F4B2F49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E2DF135B-4CFC-F827-7CB2-3D7D09669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6" name="Freeform 9">
            <a:extLst>
              <a:ext uri="{FF2B5EF4-FFF2-40B4-BE49-F238E27FC236}">
                <a16:creationId xmlns:a16="http://schemas.microsoft.com/office/drawing/2014/main" id="{01C0E92E-AAEA-78B4-F592-83B16D06725A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532E247-C732-A618-3CEB-9C6DC98AEDFE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38" name="Freeform 36">
            <a:extLst>
              <a:ext uri="{FF2B5EF4-FFF2-40B4-BE49-F238E27FC236}">
                <a16:creationId xmlns:a16="http://schemas.microsoft.com/office/drawing/2014/main" id="{EB6D1A10-C0E0-637A-3655-26BC582BB68F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3F93A8F-AD3D-9798-731D-66388909C492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167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Bellman Equation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0CD6F3-FCB8-1DF3-B95F-250BCDEDC8C2}"/>
                  </a:ext>
                </a:extLst>
              </p:cNvPr>
              <p:cNvSpPr txBox="1"/>
              <p:nvPr/>
            </p:nvSpPr>
            <p:spPr>
              <a:xfrm>
                <a:off x="9444326" y="5776902"/>
                <a:ext cx="194643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ko-KR" sz="12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30CD6F3-FCB8-1DF3-B95F-250BCDEDC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326" y="5776902"/>
                <a:ext cx="1946430" cy="553998"/>
              </a:xfrm>
              <a:prstGeom prst="rect">
                <a:avLst/>
              </a:prstGeom>
              <a:blipFill>
                <a:blip r:embed="rId3"/>
                <a:stretch>
                  <a:fillRect l="-2813" b="-6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9F04D-7648-97F1-4FE8-A49E3352D982}"/>
                  </a:ext>
                </a:extLst>
              </p:cNvPr>
              <p:cNvSpPr txBox="1"/>
              <p:nvPr/>
            </p:nvSpPr>
            <p:spPr>
              <a:xfrm>
                <a:off x="1099770" y="1997816"/>
                <a:ext cx="6024983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19F04D-7648-97F1-4FE8-A49E3352D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770" y="1997816"/>
                <a:ext cx="6024983" cy="682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8E2DD5A-AC1B-FE78-B37E-5BFF683B91C7}"/>
              </a:ext>
            </a:extLst>
          </p:cNvPr>
          <p:cNvSpPr txBox="1"/>
          <p:nvPr/>
        </p:nvSpPr>
        <p:spPr>
          <a:xfrm>
            <a:off x="9351223" y="5499903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Beysian</a:t>
            </a:r>
            <a:r>
              <a:rPr lang="en-US" altLang="ko-KR" sz="1200" dirty="0"/>
              <a:t> Rule</a:t>
            </a:r>
            <a:endParaRPr lang="ko-KR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DF5B93-4B43-1257-30C5-8572C04A101F}"/>
                  </a:ext>
                </a:extLst>
              </p:cNvPr>
              <p:cNvSpPr txBox="1"/>
              <p:nvPr/>
            </p:nvSpPr>
            <p:spPr>
              <a:xfrm>
                <a:off x="1965317" y="2851507"/>
                <a:ext cx="10055678" cy="774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+2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</m:d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</m:s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endChr m:val="|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DF5B93-4B43-1257-30C5-8572C04A1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317" y="2851507"/>
                <a:ext cx="10055678" cy="7746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FB5E97-2900-7C21-0D86-CDD13D057BA0}"/>
              </a:ext>
            </a:extLst>
          </p:cNvPr>
          <p:cNvSpPr/>
          <p:nvPr/>
        </p:nvSpPr>
        <p:spPr>
          <a:xfrm>
            <a:off x="3469343" y="2147211"/>
            <a:ext cx="2667000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0406C9C-25DA-73EA-6A19-DF52B4820CBA}"/>
              </a:ext>
            </a:extLst>
          </p:cNvPr>
          <p:cNvSpPr/>
          <p:nvPr/>
        </p:nvSpPr>
        <p:spPr>
          <a:xfrm>
            <a:off x="5374622" y="3091106"/>
            <a:ext cx="2597457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516FFCD-1154-EAEB-4818-7FE4840A3B2C}"/>
              </a:ext>
            </a:extLst>
          </p:cNvPr>
          <p:cNvSpPr/>
          <p:nvPr/>
        </p:nvSpPr>
        <p:spPr>
          <a:xfrm>
            <a:off x="9049192" y="3102449"/>
            <a:ext cx="1870342" cy="383576"/>
          </a:xfrm>
          <a:prstGeom prst="rect">
            <a:avLst/>
          </a:prstGeom>
          <a:solidFill>
            <a:srgbClr val="FF898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13ECB7-885C-DB14-31B1-200506F22721}"/>
                  </a:ext>
                </a:extLst>
              </p:cNvPr>
              <p:cNvSpPr txBox="1"/>
              <p:nvPr/>
            </p:nvSpPr>
            <p:spPr>
              <a:xfrm>
                <a:off x="1965316" y="3796952"/>
                <a:ext cx="6139997" cy="774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13ECB7-885C-DB14-31B1-200506F22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316" y="3796952"/>
                <a:ext cx="6139997" cy="774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AB154C8E-9A86-3C52-726C-FE20396F331C}"/>
              </a:ext>
            </a:extLst>
          </p:cNvPr>
          <p:cNvSpPr/>
          <p:nvPr/>
        </p:nvSpPr>
        <p:spPr>
          <a:xfrm>
            <a:off x="4802843" y="3349388"/>
            <a:ext cx="4136971" cy="125294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BE7314-D3FD-BBFF-5D66-42467C278855}"/>
              </a:ext>
            </a:extLst>
          </p:cNvPr>
          <p:cNvSpPr/>
          <p:nvPr/>
        </p:nvSpPr>
        <p:spPr>
          <a:xfrm>
            <a:off x="3142809" y="2896289"/>
            <a:ext cx="763366" cy="704163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B5CC26-4B78-38B5-DD61-220C058C2733}"/>
              </a:ext>
            </a:extLst>
          </p:cNvPr>
          <p:cNvSpPr/>
          <p:nvPr/>
        </p:nvSpPr>
        <p:spPr>
          <a:xfrm>
            <a:off x="4043137" y="3992513"/>
            <a:ext cx="1331486" cy="383576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4ED698-6388-1E2F-277E-947F5C32ACCD}"/>
                  </a:ext>
                </a:extLst>
              </p:cNvPr>
              <p:cNvSpPr txBox="1"/>
              <p:nvPr/>
            </p:nvSpPr>
            <p:spPr>
              <a:xfrm>
                <a:off x="1099770" y="5004588"/>
                <a:ext cx="5773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4ED698-6388-1E2F-277E-947F5C32A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770" y="5004588"/>
                <a:ext cx="5773568" cy="276999"/>
              </a:xfrm>
              <a:prstGeom prst="rect">
                <a:avLst/>
              </a:prstGeom>
              <a:blipFill>
                <a:blip r:embed="rId7"/>
                <a:stretch>
                  <a:fillRect l="-1793" t="-28889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E431C520-1E08-3306-426D-4D0383BBFBBB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78E44031-264A-0B26-0315-1DFA2B69DB43}"/>
              </a:ext>
            </a:extLst>
          </p:cNvPr>
          <p:cNvSpPr/>
          <p:nvPr/>
        </p:nvSpPr>
        <p:spPr>
          <a:xfrm>
            <a:off x="-4298" y="208788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8" name="자유형 23">
            <a:extLst>
              <a:ext uri="{FF2B5EF4-FFF2-40B4-BE49-F238E27FC236}">
                <a16:creationId xmlns:a16="http://schemas.microsoft.com/office/drawing/2014/main" id="{A991747C-EB0E-FF8B-6B44-70C66DD739BA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DCA94739-8960-9F93-6D4C-DBBE66A55FED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0" name="Group 12">
            <a:extLst>
              <a:ext uri="{FF2B5EF4-FFF2-40B4-BE49-F238E27FC236}">
                <a16:creationId xmlns:a16="http://schemas.microsoft.com/office/drawing/2014/main" id="{9BCBE5ED-F1CC-45DE-048D-0D9B865329C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5CAFC1D9-8BDA-1022-D0F3-83E642850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7884186F-4D2E-336B-015B-148B571DA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Freeform 9">
            <a:extLst>
              <a:ext uri="{FF2B5EF4-FFF2-40B4-BE49-F238E27FC236}">
                <a16:creationId xmlns:a16="http://schemas.microsoft.com/office/drawing/2014/main" id="{5AB9DFBA-40A5-BFCC-F500-9DCF54AF259E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52DD43A-A084-9EF4-2BD2-1A59DB67FBA9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F3791285-D184-21B8-988E-2CF404510092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15922F6-D6C4-13F1-3CD8-96BAC12A07BD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56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Why We Use Bellman Equation?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6B8E35-BAA6-8CB7-B33C-C7D2A7499AD5}"/>
                  </a:ext>
                </a:extLst>
              </p:cNvPr>
              <p:cNvSpPr txBox="1"/>
              <p:nvPr/>
            </p:nvSpPr>
            <p:spPr>
              <a:xfrm>
                <a:off x="1691222" y="1799635"/>
                <a:ext cx="5394234" cy="681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 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46B8E35-BAA6-8CB7-B33C-C7D2A7499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1799635"/>
                <a:ext cx="5394234" cy="681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D2632-5D9B-A435-D6DC-4E61828D9145}"/>
                  </a:ext>
                </a:extLst>
              </p:cNvPr>
              <p:cNvSpPr txBox="1"/>
              <p:nvPr/>
            </p:nvSpPr>
            <p:spPr>
              <a:xfrm>
                <a:off x="1691222" y="2918087"/>
                <a:ext cx="5598905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≜ </m:t>
                      </m:r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D2632-5D9B-A435-D6DC-4E61828D9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2918087"/>
                <a:ext cx="5598905" cy="682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895A01-96F3-6C0E-B652-D67E14CDA1C0}"/>
                  </a:ext>
                </a:extLst>
              </p:cNvPr>
              <p:cNvSpPr txBox="1"/>
              <p:nvPr/>
            </p:nvSpPr>
            <p:spPr>
              <a:xfrm>
                <a:off x="1691222" y="3975805"/>
                <a:ext cx="42972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895A01-96F3-6C0E-B652-D67E14CDA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3975805"/>
                <a:ext cx="4297266" cy="276999"/>
              </a:xfrm>
              <a:prstGeom prst="rect">
                <a:avLst/>
              </a:prstGeom>
              <a:blipFill>
                <a:blip r:embed="rId5"/>
                <a:stretch>
                  <a:fillRect l="-426" r="-1418" b="-41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그룹 35">
            <a:extLst>
              <a:ext uri="{FF2B5EF4-FFF2-40B4-BE49-F238E27FC236}">
                <a16:creationId xmlns:a16="http://schemas.microsoft.com/office/drawing/2014/main" id="{ACCA4C3F-4422-C86F-57CB-6D55AF3A14BF}"/>
              </a:ext>
            </a:extLst>
          </p:cNvPr>
          <p:cNvGrpSpPr/>
          <p:nvPr/>
        </p:nvGrpSpPr>
        <p:grpSpPr>
          <a:xfrm>
            <a:off x="6241002" y="1998603"/>
            <a:ext cx="1509204" cy="383576"/>
            <a:chOff x="6241002" y="1998603"/>
            <a:chExt cx="1509204" cy="383576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FEC42B2-EB4D-7CF1-6B22-05B2AA4FDC81}"/>
                </a:ext>
              </a:extLst>
            </p:cNvPr>
            <p:cNvSpPr/>
            <p:nvPr/>
          </p:nvSpPr>
          <p:spPr>
            <a:xfrm>
              <a:off x="6241002" y="1998603"/>
              <a:ext cx="754602" cy="383576"/>
            </a:xfrm>
            <a:prstGeom prst="rect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99A9341-DE3D-DAC0-42C0-FA507DBB7088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>
              <a:off x="6995604" y="2190391"/>
              <a:ext cx="75460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7531464-424A-32BE-8B88-5CC31CB0A377}"/>
              </a:ext>
            </a:extLst>
          </p:cNvPr>
          <p:cNvSpPr txBox="1"/>
          <p:nvPr/>
        </p:nvSpPr>
        <p:spPr>
          <a:xfrm>
            <a:off x="7750206" y="2005725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모든 변수에 대해 </a:t>
            </a:r>
            <a:r>
              <a:rPr lang="ko-KR" altLang="en-US" dirty="0" err="1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계산해야함</a:t>
            </a:r>
            <a:endParaRPr lang="ko-KR" altLang="en-US" dirty="0">
              <a:solidFill>
                <a:srgbClr val="A2A2A2"/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888D8CF-56BD-4959-0F25-F29D8827E95A}"/>
              </a:ext>
            </a:extLst>
          </p:cNvPr>
          <p:cNvGrpSpPr/>
          <p:nvPr/>
        </p:nvGrpSpPr>
        <p:grpSpPr>
          <a:xfrm>
            <a:off x="6356412" y="3131673"/>
            <a:ext cx="1393794" cy="383576"/>
            <a:chOff x="6356412" y="1998603"/>
            <a:chExt cx="1393794" cy="38357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F27AEE8-3C5D-E602-D2A5-5D99F8118141}"/>
                </a:ext>
              </a:extLst>
            </p:cNvPr>
            <p:cNvSpPr/>
            <p:nvPr/>
          </p:nvSpPr>
          <p:spPr>
            <a:xfrm>
              <a:off x="6356412" y="1998603"/>
              <a:ext cx="908390" cy="383576"/>
            </a:xfrm>
            <a:prstGeom prst="rect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954F73DC-B603-DEC6-24DA-DF7423B1E380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7264802" y="2190391"/>
              <a:ext cx="4854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5838AF2C-5526-0E90-F381-36A3FF10F237}"/>
              </a:ext>
            </a:extLst>
          </p:cNvPr>
          <p:cNvSpPr txBox="1"/>
          <p:nvPr/>
        </p:nvSpPr>
        <p:spPr>
          <a:xfrm>
            <a:off x="7750206" y="3138795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변수의 개수가 확 </a:t>
            </a:r>
            <a:r>
              <a:rPr lang="ko-KR" altLang="en-US" dirty="0" err="1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줄음</a:t>
            </a:r>
            <a:endParaRPr lang="ko-KR" altLang="en-US" dirty="0">
              <a:solidFill>
                <a:srgbClr val="A2A2A2"/>
              </a:solidFill>
              <a:latin typeface="THE명품고딕L_U" panose="02020603020101020101" pitchFamily="18" charset="-127"/>
              <a:ea typeface="THE명품고딕L_U" panose="02020603020101020101" pitchFamily="18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46610E-F65F-98FA-9316-251BF11D65A3}"/>
              </a:ext>
            </a:extLst>
          </p:cNvPr>
          <p:cNvSpPr txBox="1"/>
          <p:nvPr/>
        </p:nvSpPr>
        <p:spPr>
          <a:xfrm>
            <a:off x="1691221" y="4483669"/>
            <a:ext cx="5840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인접한 바로 다음 상태의 가치만으로 현재의 가치 판단 가능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5CCC662-3B28-2A30-2018-15056E1EC684}"/>
              </a:ext>
            </a:extLst>
          </p:cNvPr>
          <p:cNvSpPr txBox="1"/>
          <p:nvPr/>
        </p:nvSpPr>
        <p:spPr>
          <a:xfrm>
            <a:off x="7750206" y="2360436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끝까지 도달해야만 계산 가능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D963C47-CA34-8909-FF50-50A4357D93FA}"/>
                  </a:ext>
                </a:extLst>
              </p:cNvPr>
              <p:cNvSpPr txBox="1"/>
              <p:nvPr/>
            </p:nvSpPr>
            <p:spPr>
              <a:xfrm>
                <a:off x="1691222" y="5104223"/>
                <a:ext cx="5773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D963C47-CA34-8909-FF50-50A4357D9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222" y="5104223"/>
                <a:ext cx="5773568" cy="276999"/>
              </a:xfrm>
              <a:prstGeom prst="rect">
                <a:avLst/>
              </a:prstGeom>
              <a:blipFill>
                <a:blip r:embed="rId6"/>
                <a:stretch>
                  <a:fillRect l="-1793" t="-28261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21CF718E-61C1-65DA-97C9-8AA759513AB1}"/>
              </a:ext>
            </a:extLst>
          </p:cNvPr>
          <p:cNvGrpSpPr/>
          <p:nvPr/>
        </p:nvGrpSpPr>
        <p:grpSpPr>
          <a:xfrm>
            <a:off x="1691221" y="5080661"/>
            <a:ext cx="830029" cy="544607"/>
            <a:chOff x="6356412" y="1998603"/>
            <a:chExt cx="908390" cy="544607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3554932D-F986-D4E9-0051-3431F079DDA3}"/>
                </a:ext>
              </a:extLst>
            </p:cNvPr>
            <p:cNvSpPr/>
            <p:nvPr/>
          </p:nvSpPr>
          <p:spPr>
            <a:xfrm>
              <a:off x="6356412" y="1998603"/>
              <a:ext cx="908390" cy="383576"/>
            </a:xfrm>
            <a:prstGeom prst="rect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610B8E23-63CA-026B-D4CC-24D2FF99F265}"/>
                </a:ext>
              </a:extLst>
            </p:cNvPr>
            <p:cNvCxnSpPr>
              <a:cxnSpLocks/>
              <a:stCxn id="112" idx="2"/>
            </p:cNvCxnSpPr>
            <p:nvPr/>
          </p:nvCxnSpPr>
          <p:spPr>
            <a:xfrm>
              <a:off x="6810607" y="2382179"/>
              <a:ext cx="0" cy="161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172E5E7-8AA6-C79C-735C-F78CDDAEECA8}"/>
              </a:ext>
            </a:extLst>
          </p:cNvPr>
          <p:cNvGrpSpPr/>
          <p:nvPr/>
        </p:nvGrpSpPr>
        <p:grpSpPr>
          <a:xfrm>
            <a:off x="5348821" y="5080661"/>
            <a:ext cx="1336063" cy="544607"/>
            <a:chOff x="6356412" y="1998603"/>
            <a:chExt cx="908390" cy="544607"/>
          </a:xfrm>
        </p:grpSpPr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56AD082E-10CF-E806-C701-776A0F375972}"/>
                </a:ext>
              </a:extLst>
            </p:cNvPr>
            <p:cNvSpPr/>
            <p:nvPr/>
          </p:nvSpPr>
          <p:spPr>
            <a:xfrm>
              <a:off x="6356412" y="1998603"/>
              <a:ext cx="908390" cy="383576"/>
            </a:xfrm>
            <a:prstGeom prst="rect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6EC1A091-0F14-CA3D-CBF7-5B9E4B98C63D}"/>
                </a:ext>
              </a:extLst>
            </p:cNvPr>
            <p:cNvCxnSpPr>
              <a:cxnSpLocks/>
              <a:stCxn id="115" idx="2"/>
            </p:cNvCxnSpPr>
            <p:nvPr/>
          </p:nvCxnSpPr>
          <p:spPr>
            <a:xfrm>
              <a:off x="6810608" y="2382179"/>
              <a:ext cx="0" cy="161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B6589708-0B08-25BD-0E10-5E1EA22CC5FE}"/>
              </a:ext>
            </a:extLst>
          </p:cNvPr>
          <p:cNvSpPr txBox="1"/>
          <p:nvPr/>
        </p:nvSpPr>
        <p:spPr>
          <a:xfrm>
            <a:off x="1691221" y="5621576"/>
            <a:ext cx="4822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인접한 바로 다음 </a:t>
            </a:r>
            <a:r>
              <a:rPr lang="en-US" altLang="ko-KR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Q</a:t>
            </a:r>
            <a:r>
              <a:rPr lang="ko-KR" altLang="en-US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값으로 현재의 </a:t>
            </a:r>
            <a:r>
              <a:rPr lang="en-US" altLang="ko-KR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Q</a:t>
            </a:r>
            <a:r>
              <a:rPr lang="ko-KR" altLang="en-US" dirty="0">
                <a:solidFill>
                  <a:srgbClr val="A2A2A2"/>
                </a:solidFill>
                <a:latin typeface="THE명품고딕L_U" panose="02020603020101020101" pitchFamily="18" charset="-127"/>
                <a:ea typeface="THE명품고딕L_U" panose="02020603020101020101" pitchFamily="18" charset="-127"/>
              </a:rPr>
              <a:t>값 판단 가능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04EC37A2-5D6C-2D0A-CA50-BB915AF6C3D5}"/>
              </a:ext>
            </a:extLst>
          </p:cNvPr>
          <p:cNvGrpSpPr/>
          <p:nvPr/>
        </p:nvGrpSpPr>
        <p:grpSpPr>
          <a:xfrm>
            <a:off x="1691222" y="3942531"/>
            <a:ext cx="670238" cy="544607"/>
            <a:chOff x="6356412" y="1998603"/>
            <a:chExt cx="908390" cy="544607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A89C25DC-B158-1522-38B1-1BD8803A2F36}"/>
                </a:ext>
              </a:extLst>
            </p:cNvPr>
            <p:cNvSpPr/>
            <p:nvPr/>
          </p:nvSpPr>
          <p:spPr>
            <a:xfrm>
              <a:off x="6356412" y="1998603"/>
              <a:ext cx="908390" cy="383576"/>
            </a:xfrm>
            <a:prstGeom prst="rect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663EBEE4-CD72-D584-3770-9CA7421A8B8C}"/>
                </a:ext>
              </a:extLst>
            </p:cNvPr>
            <p:cNvCxnSpPr>
              <a:cxnSpLocks/>
              <a:stCxn id="123" idx="2"/>
            </p:cNvCxnSpPr>
            <p:nvPr/>
          </p:nvCxnSpPr>
          <p:spPr>
            <a:xfrm>
              <a:off x="6810607" y="2382179"/>
              <a:ext cx="0" cy="161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17CEF817-C8F9-9EF0-A83F-04F579CC802D}"/>
              </a:ext>
            </a:extLst>
          </p:cNvPr>
          <p:cNvGrpSpPr/>
          <p:nvPr/>
        </p:nvGrpSpPr>
        <p:grpSpPr>
          <a:xfrm>
            <a:off x="4798406" y="3942531"/>
            <a:ext cx="830035" cy="544607"/>
            <a:chOff x="6356412" y="1998603"/>
            <a:chExt cx="908390" cy="544607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47CFD39F-AFBB-D027-1C55-EB39959BB9AA}"/>
                </a:ext>
              </a:extLst>
            </p:cNvPr>
            <p:cNvSpPr/>
            <p:nvPr/>
          </p:nvSpPr>
          <p:spPr>
            <a:xfrm>
              <a:off x="6356412" y="1998603"/>
              <a:ext cx="908390" cy="383576"/>
            </a:xfrm>
            <a:prstGeom prst="rect">
              <a:avLst/>
            </a:pr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F25B2C22-98BE-114C-C231-B267B64A85BB}"/>
                </a:ext>
              </a:extLst>
            </p:cNvPr>
            <p:cNvCxnSpPr>
              <a:cxnSpLocks/>
              <a:stCxn id="126" idx="2"/>
            </p:cNvCxnSpPr>
            <p:nvPr/>
          </p:nvCxnSpPr>
          <p:spPr>
            <a:xfrm>
              <a:off x="6810608" y="2382179"/>
              <a:ext cx="0" cy="1610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28" name="사각형: 둥근 위쪽 모서리 127">
            <a:extLst>
              <a:ext uri="{FF2B5EF4-FFF2-40B4-BE49-F238E27FC236}">
                <a16:creationId xmlns:a16="http://schemas.microsoft.com/office/drawing/2014/main" id="{D0A4CF95-E038-F92C-83C5-73E08D82A077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29" name="자유형: 도형 128">
            <a:extLst>
              <a:ext uri="{FF2B5EF4-FFF2-40B4-BE49-F238E27FC236}">
                <a16:creationId xmlns:a16="http://schemas.microsoft.com/office/drawing/2014/main" id="{D918447B-A57E-B803-4D75-FEFFABB3BF33}"/>
              </a:ext>
            </a:extLst>
          </p:cNvPr>
          <p:cNvSpPr/>
          <p:nvPr/>
        </p:nvSpPr>
        <p:spPr>
          <a:xfrm>
            <a:off x="-4298" y="208788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30" name="자유형 23">
            <a:extLst>
              <a:ext uri="{FF2B5EF4-FFF2-40B4-BE49-F238E27FC236}">
                <a16:creationId xmlns:a16="http://schemas.microsoft.com/office/drawing/2014/main" id="{80D35F09-6DA2-F19D-4EED-7CD58D52F57D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31" name="Freeform 6">
            <a:extLst>
              <a:ext uri="{FF2B5EF4-FFF2-40B4-BE49-F238E27FC236}">
                <a16:creationId xmlns:a16="http://schemas.microsoft.com/office/drawing/2014/main" id="{BD2F77BA-C30C-71C0-B014-FC0BF02BE8BB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2" name="Group 12">
            <a:extLst>
              <a:ext uri="{FF2B5EF4-FFF2-40B4-BE49-F238E27FC236}">
                <a16:creationId xmlns:a16="http://schemas.microsoft.com/office/drawing/2014/main" id="{FB22F301-65B2-C72F-DE47-50B297B5EA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33" name="Freeform 13">
              <a:extLst>
                <a:ext uri="{FF2B5EF4-FFF2-40B4-BE49-F238E27FC236}">
                  <a16:creationId xmlns:a16="http://schemas.microsoft.com/office/drawing/2014/main" id="{AB0B538D-D986-1BAD-92E4-B225B6768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14">
              <a:extLst>
                <a:ext uri="{FF2B5EF4-FFF2-40B4-BE49-F238E27FC236}">
                  <a16:creationId xmlns:a16="http://schemas.microsoft.com/office/drawing/2014/main" id="{B667C071-6B6B-0F7E-919A-50BE78A9D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35" name="Freeform 9">
            <a:extLst>
              <a:ext uri="{FF2B5EF4-FFF2-40B4-BE49-F238E27FC236}">
                <a16:creationId xmlns:a16="http://schemas.microsoft.com/office/drawing/2014/main" id="{E89B878C-2178-FAA7-2FD6-BF93B2F166DA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D06BCFE6-89F9-41BE-4789-78A38BF3FC8F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137" name="Freeform 36">
            <a:extLst>
              <a:ext uri="{FF2B5EF4-FFF2-40B4-BE49-F238E27FC236}">
                <a16:creationId xmlns:a16="http://schemas.microsoft.com/office/drawing/2014/main" id="{A96CED65-36A8-F10D-AFED-991303B118CA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D63F0C54-A9DC-DBEA-ED5D-2BA771BCA8AA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062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Q-Learning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E8C364-11F6-F530-4230-7A1EE18DCA7B}"/>
                  </a:ext>
                </a:extLst>
              </p:cNvPr>
              <p:cNvSpPr txBox="1"/>
              <p:nvPr/>
            </p:nvSpPr>
            <p:spPr>
              <a:xfrm>
                <a:off x="679858" y="2267588"/>
                <a:ext cx="5220934" cy="3196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d>
                        <m:dPr>
                          <m:ctrlPr>
                            <a:rPr lang="en-US" altLang="ko-KR" sz="14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ko-KR" sz="14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sz="14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400" b="1" i="1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ko-KR" sz="1400" b="1" i="1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US" altLang="ko-KR" sz="14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ko-KR" sz="1400" b="1" i="1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ko-KR" sz="1400" b="1" i="1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400" b="1" i="1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400" b="1" i="1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14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ko-KR" altLang="en-US" sz="1400" b="1" i="1" smtClean="0">
                          <a:solidFill>
                            <a:srgbClr val="6383EC"/>
                          </a:solidFill>
                          <a:latin typeface="Cambria Math" panose="02040503050406030204" pitchFamily="18" charset="0"/>
                        </a:rPr>
                        <m:t>𝜸</m:t>
                      </m:r>
                      <m:func>
                        <m:funcPr>
                          <m:ctrlPr>
                            <a:rPr lang="en-US" altLang="ko-KR" sz="14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14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ko-KR" sz="1400" b="1" i="0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𝐚𝐫𝐠</m:t>
                              </m:r>
                              <m:r>
                                <a:rPr lang="en-US" altLang="ko-KR" sz="1400" b="1" i="0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en-US" altLang="ko-KR" sz="1400" b="1" i="1" smtClean="0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lim>
                          </m:limLow>
                        </m:fName>
                        <m:e>
                          <m:r>
                            <a:rPr lang="en-US" altLang="ko-KR" sz="1400" b="1" i="1" smtClean="0">
                              <a:solidFill>
                                <a:srgbClr val="6383EC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ko-KR" sz="1400" b="1" i="1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4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ko-KR" sz="1400" b="1" i="1" smtClean="0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400" b="1" i="1" smtClean="0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ko-KR" sz="1400" b="1" i="1">
                                  <a:solidFill>
                                    <a:srgbClr val="6383EC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4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4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ko-KR" sz="1400" b="1" i="1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ko-KR" sz="1400" b="1" i="1" smtClean="0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400" b="1" i="1" smtClean="0">
                                      <a:solidFill>
                                        <a:srgbClr val="6383EC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400" b="1" dirty="0">
                  <a:solidFill>
                    <a:srgbClr val="6383EC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E8C364-11F6-F530-4230-7A1EE18DC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58" y="2267588"/>
                <a:ext cx="5220934" cy="319639"/>
              </a:xfrm>
              <a:prstGeom prst="rect">
                <a:avLst/>
              </a:prstGeom>
              <a:blipFill>
                <a:blip r:embed="rId3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FB4EF47-4B26-55CB-5C3E-3BC9163CFB43}"/>
              </a:ext>
            </a:extLst>
          </p:cNvPr>
          <p:cNvSpPr txBox="1"/>
          <p:nvPr/>
        </p:nvSpPr>
        <p:spPr>
          <a:xfrm>
            <a:off x="753376" y="1728288"/>
            <a:ext cx="507389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Q-Value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를 최대화하는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action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을 취하도록 학습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FE8E6224-A8D5-4BD0-3BFF-6F5792B4C19F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4162DCD1-310E-EB9B-DBCB-DDF05A565082}"/>
              </a:ext>
            </a:extLst>
          </p:cNvPr>
          <p:cNvSpPr/>
          <p:nvPr/>
        </p:nvSpPr>
        <p:spPr>
          <a:xfrm>
            <a:off x="-4298" y="2838292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자유형 23">
            <a:extLst>
              <a:ext uri="{FF2B5EF4-FFF2-40B4-BE49-F238E27FC236}">
                <a16:creationId xmlns:a16="http://schemas.microsoft.com/office/drawing/2014/main" id="{91AE09D2-003B-D84F-6E1F-4DFB2E016D41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1" name="Freeform 6">
            <a:extLst>
              <a:ext uri="{FF2B5EF4-FFF2-40B4-BE49-F238E27FC236}">
                <a16:creationId xmlns:a16="http://schemas.microsoft.com/office/drawing/2014/main" id="{57064C22-AE79-4AEA-6DA0-07CF00592331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2" name="Group 12">
            <a:extLst>
              <a:ext uri="{FF2B5EF4-FFF2-40B4-BE49-F238E27FC236}">
                <a16:creationId xmlns:a16="http://schemas.microsoft.com/office/drawing/2014/main" id="{DD8E05F7-D409-F270-F4A6-4C7D3BA53CA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6A04BBD-FB9F-9CC0-271A-55E9ABEA6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0F1ABAD5-93D9-F467-E088-934138853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6" name="Freeform 9">
            <a:extLst>
              <a:ext uri="{FF2B5EF4-FFF2-40B4-BE49-F238E27FC236}">
                <a16:creationId xmlns:a16="http://schemas.microsoft.com/office/drawing/2014/main" id="{849973F0-3B04-D4F7-4569-0FF32C1563B1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0E4E957-0A00-8CD4-D4F7-9FE3FC940F34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8983791B-AD75-90DC-D7B5-EF1CDAD84B80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56383FE-4D90-8C74-E037-8A33327D66B7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EA2AE4-DA28-9CFD-B799-BD598A4BE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47" y="2838292"/>
            <a:ext cx="5101165" cy="287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1BFCE68-905B-43BF-AB4D-7F2ED3057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023" y="2963793"/>
            <a:ext cx="5620534" cy="228631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C8188C3-733E-BA56-E12B-569E54D8D5D4}"/>
              </a:ext>
            </a:extLst>
          </p:cNvPr>
          <p:cNvSpPr txBox="1"/>
          <p:nvPr/>
        </p:nvSpPr>
        <p:spPr>
          <a:xfrm>
            <a:off x="6438244" y="2413701"/>
            <a:ext cx="5073898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코드로 보기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209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Summary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3A9662-4D7B-7FF8-13EC-F7D551677458}"/>
              </a:ext>
            </a:extLst>
          </p:cNvPr>
          <p:cNvSpPr/>
          <p:nvPr/>
        </p:nvSpPr>
        <p:spPr>
          <a:xfrm>
            <a:off x="1958107" y="3015677"/>
            <a:ext cx="877918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i="1" dirty="0"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Q-Learning</a:t>
            </a:r>
          </a:p>
          <a:p>
            <a:pPr algn="ctr">
              <a:lnSpc>
                <a:spcPct val="150000"/>
              </a:lnSpc>
            </a:pPr>
            <a:r>
              <a:rPr lang="ko-KR" altLang="en-US" sz="1600" i="1" dirty="0"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반복을 통해 계속 </a:t>
            </a:r>
            <a:r>
              <a:rPr lang="en-US" altLang="ko-KR" sz="1600" i="1" dirty="0"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Q</a:t>
            </a:r>
            <a:r>
              <a:rPr lang="ko-KR" altLang="en-US" sz="1600" i="1" dirty="0"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값을 업데이트 하며 최적 방법을 학습하는 알고리즘</a:t>
            </a:r>
            <a:endParaRPr lang="en-US" altLang="ko-KR" sz="1600" i="1" dirty="0">
              <a:solidFill>
                <a:srgbClr val="6383EC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2439FF02-0F87-0A22-72A3-BD66F6AF55AE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1B25EDD-ACAD-8A6D-27D1-039C4D0B1F39}"/>
              </a:ext>
            </a:extLst>
          </p:cNvPr>
          <p:cNvSpPr/>
          <p:nvPr/>
        </p:nvSpPr>
        <p:spPr>
          <a:xfrm>
            <a:off x="-4298" y="2838292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자유형 23">
            <a:extLst>
              <a:ext uri="{FF2B5EF4-FFF2-40B4-BE49-F238E27FC236}">
                <a16:creationId xmlns:a16="http://schemas.microsoft.com/office/drawing/2014/main" id="{F9A26E59-8FD2-E040-F0A4-18DDEE378D7F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960C9BE4-9333-6913-B878-2826891053EF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9F88E4-A56C-5EA5-0276-2C0AEEE32E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7B8D716-3E24-1132-DA8C-8AE04D5B5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C368A870-929B-C8F5-D51C-CFC67709A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CC2B400B-54F1-27C5-7B0A-E2D0C15AD75C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085247B-B89F-ABB9-ABB6-29354E2516CE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38E0F06-1F03-A762-5F03-2737DE1000AF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305E40D-20BF-5B6A-C811-A2930EC2B95A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0710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3731</TotalTime>
  <Words>776</Words>
  <Application>Microsoft Office PowerPoint</Application>
  <PresentationFormat>와이드스크린</PresentationFormat>
  <Paragraphs>227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THE명품고딕L_U</vt:lpstr>
      <vt:lpstr>THE명품고딕M_U</vt:lpstr>
      <vt:lpstr>Tmon몬소리 Black</vt:lpstr>
      <vt:lpstr>맑은 고딕</vt:lpstr>
      <vt:lpstr>Arial</vt:lpstr>
      <vt:lpstr>Cambria Math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hyuna3589@gmail.com</cp:lastModifiedBy>
  <cp:revision>88</cp:revision>
  <dcterms:created xsi:type="dcterms:W3CDTF">2024-01-09T05:10:02Z</dcterms:created>
  <dcterms:modified xsi:type="dcterms:W3CDTF">2024-02-23T11:04:48Z</dcterms:modified>
</cp:coreProperties>
</file>