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8" r:id="rId4"/>
    <p:sldId id="270" r:id="rId5"/>
    <p:sldId id="272" r:id="rId6"/>
    <p:sldId id="273" r:id="rId7"/>
    <p:sldId id="274" r:id="rId8"/>
    <p:sldId id="271" r:id="rId9"/>
    <p:sldId id="276" r:id="rId10"/>
    <p:sldId id="275" r:id="rId11"/>
    <p:sldId id="277" r:id="rId12"/>
    <p:sldId id="278" r:id="rId13"/>
    <p:sldId id="280" r:id="rId14"/>
    <p:sldId id="28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3EC"/>
    <a:srgbClr val="FF898C"/>
    <a:srgbClr val="FFFFFF"/>
    <a:srgbClr val="A2A2A2"/>
    <a:srgbClr val="CA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4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94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164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59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85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30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16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05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64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15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791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2024-02-02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77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9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>
            <a:off x="4394348" y="6294909"/>
            <a:ext cx="3399083" cy="559163"/>
          </a:xfrm>
          <a:prstGeom prst="round2SameRect">
            <a:avLst>
              <a:gd name="adj1" fmla="val 3646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dir="16200000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6661981" y="6466871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6021748" y="6465107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C65B237-EE2B-0200-5066-3B3F36ABE1BF}"/>
              </a:ext>
            </a:extLst>
          </p:cNvPr>
          <p:cNvGrpSpPr/>
          <p:nvPr/>
        </p:nvGrpSpPr>
        <p:grpSpPr>
          <a:xfrm>
            <a:off x="5275700" y="6398019"/>
            <a:ext cx="278315" cy="287115"/>
            <a:chOff x="401543" y="1092856"/>
            <a:chExt cx="278315" cy="287115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D4202FA5-0E5D-D30F-7384-6B16C001F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43" y="1193003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rgbClr val="6383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964E2FB-BC23-4849-7CE9-19BDD1A11B35}"/>
                </a:ext>
              </a:extLst>
            </p:cNvPr>
            <p:cNvSpPr/>
            <p:nvPr/>
          </p:nvSpPr>
          <p:spPr>
            <a:xfrm>
              <a:off x="502333" y="1092856"/>
              <a:ext cx="177525" cy="177525"/>
            </a:xfrm>
            <a:prstGeom prst="ellipse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>
                <a:defRPr/>
              </a:pPr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F0D7412-8F86-780A-9C7B-A7770F1FFC62}"/>
              </a:ext>
            </a:extLst>
          </p:cNvPr>
          <p:cNvGrpSpPr/>
          <p:nvPr/>
        </p:nvGrpSpPr>
        <p:grpSpPr>
          <a:xfrm>
            <a:off x="7300431" y="6400048"/>
            <a:ext cx="241495" cy="283057"/>
            <a:chOff x="406154" y="3171863"/>
            <a:chExt cx="241495" cy="283057"/>
          </a:xfrm>
        </p:grpSpPr>
        <p:sp>
          <p:nvSpPr>
            <p:cNvPr id="8" name="Freeform 36">
              <a:extLst>
                <a:ext uri="{FF2B5EF4-FFF2-40B4-BE49-F238E27FC236}">
                  <a16:creationId xmlns:a16="http://schemas.microsoft.com/office/drawing/2014/main" id="{E8786195-68C8-D043-25CA-92A11274DF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6154" y="3264184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6383E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3C4B27B-05A3-8255-7D14-7D1127762CD6}"/>
                </a:ext>
              </a:extLst>
            </p:cNvPr>
            <p:cNvSpPr/>
            <p:nvPr/>
          </p:nvSpPr>
          <p:spPr>
            <a:xfrm>
              <a:off x="470124" y="3171863"/>
              <a:ext cx="177525" cy="177525"/>
            </a:xfrm>
            <a:prstGeom prst="ellipse">
              <a:avLst/>
            </a:prstGeom>
            <a:solidFill>
              <a:srgbClr val="FF89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>
                <a:defRPr/>
              </a:pPr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3063483" y="2429243"/>
            <a:ext cx="6096000" cy="86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0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MDP</a:t>
            </a:r>
            <a:endParaRPr lang="en-US" altLang="ko-KR" sz="4000" i="1" kern="0" dirty="0">
              <a:ln w="9525">
                <a:noFill/>
              </a:ln>
              <a:solidFill>
                <a:prstClr val="black">
                  <a:lumMod val="65000"/>
                  <a:lumOff val="35000"/>
                </a:prstClr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defRPr/>
            </a:pPr>
            <a:r>
              <a:rPr lang="en-US" altLang="ko-KR" sz="1100" kern="0" dirty="0">
                <a:solidFill>
                  <a:prstClr val="white">
                    <a:lumMod val="75000"/>
                  </a:prstClr>
                </a:solidFill>
              </a:rPr>
              <a:t>Markov Decision Process</a:t>
            </a:r>
            <a:endParaRPr lang="ko-KR" altLang="en-US" sz="3600" dirty="0">
              <a:solidFill>
                <a:prstClr val="white">
                  <a:lumMod val="75000"/>
                </a:prstClr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005D5DC-1B18-2B6D-C447-9AEF695D7C60}"/>
              </a:ext>
            </a:extLst>
          </p:cNvPr>
          <p:cNvGrpSpPr/>
          <p:nvPr/>
        </p:nvGrpSpPr>
        <p:grpSpPr>
          <a:xfrm>
            <a:off x="4175510" y="6290983"/>
            <a:ext cx="1049382" cy="567017"/>
            <a:chOff x="4109235" y="6290983"/>
            <a:chExt cx="1049382" cy="567017"/>
          </a:xfrm>
        </p:grpSpPr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B0003D18-732D-F332-24B3-1324F4DD619E}"/>
                </a:ext>
              </a:extLst>
            </p:cNvPr>
            <p:cNvSpPr/>
            <p:nvPr/>
          </p:nvSpPr>
          <p:spPr>
            <a:xfrm>
              <a:off x="4373318" y="6290983"/>
              <a:ext cx="521216" cy="56701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6B3B0569-D42F-306F-4A42-0640E7D35B2B}"/>
                </a:ext>
              </a:extLst>
            </p:cNvPr>
            <p:cNvSpPr/>
            <p:nvPr/>
          </p:nvSpPr>
          <p:spPr>
            <a:xfrm rot="16200000">
              <a:off x="4109235" y="6593917"/>
              <a:ext cx="264083" cy="264083"/>
            </a:xfrm>
            <a:custGeom>
              <a:avLst/>
              <a:gdLst>
                <a:gd name="connsiteX0" fmla="*/ 263098 w 264083"/>
                <a:gd name="connsiteY0" fmla="*/ 263098 h 264083"/>
                <a:gd name="connsiteX1" fmla="*/ 264083 w 264083"/>
                <a:gd name="connsiteY1" fmla="*/ 264083 h 264083"/>
                <a:gd name="connsiteX2" fmla="*/ 253325 w 264083"/>
                <a:gd name="connsiteY2" fmla="*/ 264083 h 264083"/>
                <a:gd name="connsiteX3" fmla="*/ 0 w 264083"/>
                <a:gd name="connsiteY3" fmla="*/ 10769 h 264083"/>
                <a:gd name="connsiteX4" fmla="*/ 202263 w 264083"/>
                <a:gd name="connsiteY4" fmla="*/ 258938 h 264083"/>
                <a:gd name="connsiteX5" fmla="*/ 253305 w 264083"/>
                <a:gd name="connsiteY5" fmla="*/ 264083 h 264083"/>
                <a:gd name="connsiteX6" fmla="*/ 0 w 264083"/>
                <a:gd name="connsiteY6" fmla="*/ 264083 h 264083"/>
                <a:gd name="connsiteX7" fmla="*/ 0 w 264083"/>
                <a:gd name="connsiteY7" fmla="*/ 0 h 264083"/>
                <a:gd name="connsiteX8" fmla="*/ 986 w 264083"/>
                <a:gd name="connsiteY8" fmla="*/ 986 h 264083"/>
                <a:gd name="connsiteX9" fmla="*/ 0 w 264083"/>
                <a:gd name="connsiteY9" fmla="*/ 10769 h 26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4083" h="264083">
                  <a:moveTo>
                    <a:pt x="263098" y="263098"/>
                  </a:moveTo>
                  <a:lnTo>
                    <a:pt x="264083" y="264083"/>
                  </a:lnTo>
                  <a:lnTo>
                    <a:pt x="253325" y="264083"/>
                  </a:lnTo>
                  <a:close/>
                  <a:moveTo>
                    <a:pt x="0" y="10769"/>
                  </a:moveTo>
                  <a:cubicBezTo>
                    <a:pt x="0" y="133183"/>
                    <a:pt x="86832" y="235317"/>
                    <a:pt x="202263" y="258938"/>
                  </a:cubicBezTo>
                  <a:lnTo>
                    <a:pt x="253305" y="264083"/>
                  </a:lnTo>
                  <a:lnTo>
                    <a:pt x="0" y="264083"/>
                  </a:lnTo>
                  <a:close/>
                  <a:moveTo>
                    <a:pt x="0" y="0"/>
                  </a:moveTo>
                  <a:lnTo>
                    <a:pt x="986" y="986"/>
                  </a:lnTo>
                  <a:lnTo>
                    <a:pt x="0" y="10769"/>
                  </a:lnTo>
                  <a:close/>
                </a:path>
              </a:pathLst>
            </a:cu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4FEBA786-2C01-A8F9-1E49-1674747CD97F}"/>
                </a:ext>
              </a:extLst>
            </p:cNvPr>
            <p:cNvSpPr/>
            <p:nvPr/>
          </p:nvSpPr>
          <p:spPr>
            <a:xfrm rot="5400000" flipH="1">
              <a:off x="4894534" y="6593917"/>
              <a:ext cx="264083" cy="264083"/>
            </a:xfrm>
            <a:custGeom>
              <a:avLst/>
              <a:gdLst>
                <a:gd name="connsiteX0" fmla="*/ 263098 w 264083"/>
                <a:gd name="connsiteY0" fmla="*/ 263098 h 264083"/>
                <a:gd name="connsiteX1" fmla="*/ 264083 w 264083"/>
                <a:gd name="connsiteY1" fmla="*/ 264083 h 264083"/>
                <a:gd name="connsiteX2" fmla="*/ 253325 w 264083"/>
                <a:gd name="connsiteY2" fmla="*/ 264083 h 264083"/>
                <a:gd name="connsiteX3" fmla="*/ 0 w 264083"/>
                <a:gd name="connsiteY3" fmla="*/ 10769 h 264083"/>
                <a:gd name="connsiteX4" fmla="*/ 202263 w 264083"/>
                <a:gd name="connsiteY4" fmla="*/ 258938 h 264083"/>
                <a:gd name="connsiteX5" fmla="*/ 253305 w 264083"/>
                <a:gd name="connsiteY5" fmla="*/ 264083 h 264083"/>
                <a:gd name="connsiteX6" fmla="*/ 0 w 264083"/>
                <a:gd name="connsiteY6" fmla="*/ 264083 h 264083"/>
                <a:gd name="connsiteX7" fmla="*/ 0 w 264083"/>
                <a:gd name="connsiteY7" fmla="*/ 0 h 264083"/>
                <a:gd name="connsiteX8" fmla="*/ 986 w 264083"/>
                <a:gd name="connsiteY8" fmla="*/ 986 h 264083"/>
                <a:gd name="connsiteX9" fmla="*/ 0 w 264083"/>
                <a:gd name="connsiteY9" fmla="*/ 10769 h 264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4083" h="264083">
                  <a:moveTo>
                    <a:pt x="263098" y="263098"/>
                  </a:moveTo>
                  <a:lnTo>
                    <a:pt x="264083" y="264083"/>
                  </a:lnTo>
                  <a:lnTo>
                    <a:pt x="253325" y="264083"/>
                  </a:lnTo>
                  <a:close/>
                  <a:moveTo>
                    <a:pt x="0" y="10769"/>
                  </a:moveTo>
                  <a:cubicBezTo>
                    <a:pt x="0" y="133183"/>
                    <a:pt x="86832" y="235317"/>
                    <a:pt x="202263" y="258938"/>
                  </a:cubicBezTo>
                  <a:lnTo>
                    <a:pt x="253305" y="264083"/>
                  </a:lnTo>
                  <a:lnTo>
                    <a:pt x="0" y="264083"/>
                  </a:lnTo>
                  <a:close/>
                  <a:moveTo>
                    <a:pt x="0" y="0"/>
                  </a:moveTo>
                  <a:lnTo>
                    <a:pt x="986" y="986"/>
                  </a:lnTo>
                  <a:lnTo>
                    <a:pt x="0" y="10769"/>
                  </a:lnTo>
                  <a:close/>
                </a:path>
              </a:pathLst>
            </a:custGeom>
            <a:solidFill>
              <a:srgbClr val="6383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6E5D87-BD90-7A34-E033-38BB2FC06B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8623" y="6450357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5F37DCAC-7F70-B6AA-C970-193F33286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57322C0-3E50-25CE-9A02-C3CB2A188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설명선: 굽은 선(테두리 없음) 20">
            <a:extLst>
              <a:ext uri="{FF2B5EF4-FFF2-40B4-BE49-F238E27FC236}">
                <a16:creationId xmlns:a16="http://schemas.microsoft.com/office/drawing/2014/main" id="{744A763E-F5EF-E1EF-3E9F-DC3D8A6A4FE3}"/>
              </a:ext>
            </a:extLst>
          </p:cNvPr>
          <p:cNvSpPr/>
          <p:nvPr/>
        </p:nvSpPr>
        <p:spPr>
          <a:xfrm>
            <a:off x="5174513" y="5715983"/>
            <a:ext cx="1388959" cy="342900"/>
          </a:xfrm>
          <a:prstGeom prst="callout2">
            <a:avLst>
              <a:gd name="adj1" fmla="val 45834"/>
              <a:gd name="adj2" fmla="val -109"/>
              <a:gd name="adj3" fmla="val 46528"/>
              <a:gd name="adj4" fmla="val -16153"/>
              <a:gd name="adj5" fmla="val 140278"/>
              <a:gd name="adj6" fmla="val -33980"/>
            </a:avLst>
          </a:prstGeom>
          <a:noFill/>
          <a:ln w="6350">
            <a:solidFill>
              <a:srgbClr val="6383EC"/>
            </a:solidFill>
            <a:tailEnd type="oval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050" b="1" dirty="0" err="1">
                <a:solidFill>
                  <a:srgbClr val="6383EC"/>
                </a:solidFill>
              </a:rPr>
              <a:t>심현아</a:t>
            </a:r>
            <a:endParaRPr lang="ko-KR" altLang="en-US" sz="1200" b="1" dirty="0">
              <a:solidFill>
                <a:srgbClr val="6383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2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-1037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6E5D87-BD90-7A34-E033-38BB2FC06B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5F37DCAC-7F70-B6AA-C970-193F33286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457322C0-3E50-25CE-9A02-C3CB2A188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7" name="Freeform 9">
            <a:extLst>
              <a:ext uri="{FF2B5EF4-FFF2-40B4-BE49-F238E27FC236}">
                <a16:creationId xmlns:a16="http://schemas.microsoft.com/office/drawing/2014/main" id="{D4202FA5-0E5D-D30F-7384-6B16C001F78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Process of Reinforcement Learning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B2E671B2-20E7-FBFE-6D1F-684E1EB69CF4}"/>
                  </a:ext>
                </a:extLst>
              </p:cNvPr>
              <p:cNvSpPr/>
              <p:nvPr/>
            </p:nvSpPr>
            <p:spPr>
              <a:xfrm>
                <a:off x="1545515" y="4502010"/>
                <a:ext cx="9100969" cy="16992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en-US" altLang="ko-KR" sz="1600" b="1" dirty="0">
                    <a:solidFill>
                      <a:srgbClr val="6383EC"/>
                    </a:solidFill>
                  </a:rPr>
                  <a:t>RL Process</a:t>
                </a:r>
              </a:p>
              <a:p>
                <a:pPr marL="228600" indent="-228600" algn="ctr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</a:rPr>
                  <a:t>에이전트는 환경의 상태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</a:rPr>
                  <a:t>를 측정한다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</a:rPr>
                  <a:t>.</a:t>
                </a:r>
              </a:p>
              <a:p>
                <a:pPr marL="228600" indent="-228600" algn="ctr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현재 상태에서 에이전트의 규칙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(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정책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)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에 따라 최적 행동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​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)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를 선택한다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.</a:t>
                </a:r>
              </a:p>
              <a:p>
                <a:pPr marL="228600" indent="-228600" algn="ctr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선택한 행동에 의해 환경의 상태는 다음 상태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​)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로 전환된다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.</a:t>
                </a:r>
              </a:p>
              <a:p>
                <a:pPr marL="228600" indent="-228600" algn="ctr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다음 상태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​)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를 바탕으로 에이전트는 새로운 행동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​)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을 선택한다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.</a:t>
                </a:r>
              </a:p>
              <a:p>
                <a:pPr marL="228600" indent="-228600" algn="ctr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환경으로부터 주어지는 즉각적인 보상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)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을 사용해 장기적인 성과를 계산해서 에이전트의 정책을 즉시 또는 주기적으로 계산한다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.</a:t>
                </a:r>
                <a:endParaRPr lang="ko-KR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B2E671B2-20E7-FBFE-6D1F-684E1EB69C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515" y="4502010"/>
                <a:ext cx="9100969" cy="1699248"/>
              </a:xfrm>
              <a:prstGeom prst="rect">
                <a:avLst/>
              </a:prstGeom>
              <a:blipFill>
                <a:blip r:embed="rId3"/>
                <a:stretch>
                  <a:fillRect b="-25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AAB74AB9-308C-4340-B221-4E69CE7DB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5" y="2029424"/>
            <a:ext cx="478155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37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그룹 81">
            <a:extLst>
              <a:ext uri="{FF2B5EF4-FFF2-40B4-BE49-F238E27FC236}">
                <a16:creationId xmlns:a16="http://schemas.microsoft.com/office/drawing/2014/main" id="{1BA3674E-B3C3-AC73-4FE1-9465CB05E090}"/>
              </a:ext>
            </a:extLst>
          </p:cNvPr>
          <p:cNvGrpSpPr/>
          <p:nvPr/>
        </p:nvGrpSpPr>
        <p:grpSpPr>
          <a:xfrm>
            <a:off x="2337846" y="2588382"/>
            <a:ext cx="7613389" cy="1904683"/>
            <a:chOff x="2337846" y="2588382"/>
            <a:chExt cx="7613389" cy="1904683"/>
          </a:xfrm>
        </p:grpSpPr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14E7130D-F71D-8833-B1BD-5318D3C28D2C}"/>
                </a:ext>
              </a:extLst>
            </p:cNvPr>
            <p:cNvGrpSpPr/>
            <p:nvPr/>
          </p:nvGrpSpPr>
          <p:grpSpPr>
            <a:xfrm>
              <a:off x="2337846" y="2588383"/>
              <a:ext cx="1291281" cy="1904682"/>
              <a:chOff x="2337846" y="2588383"/>
              <a:chExt cx="1291281" cy="19046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타원 1">
                    <a:extLst>
                      <a:ext uri="{FF2B5EF4-FFF2-40B4-BE49-F238E27FC236}">
                        <a16:creationId xmlns:a16="http://schemas.microsoft.com/office/drawing/2014/main" id="{3068CE97-2973-0E2A-2500-64DCD2A91256}"/>
                      </a:ext>
                    </a:extLst>
                  </p:cNvPr>
                  <p:cNvSpPr/>
                  <p:nvPr/>
                </p:nvSpPr>
                <p:spPr>
                  <a:xfrm>
                    <a:off x="2337846" y="2588383"/>
                    <a:ext cx="1291281" cy="1904682"/>
                  </a:xfrm>
                  <a:prstGeom prst="ellipse">
                    <a:avLst/>
                  </a:prstGeom>
                  <a:solidFill>
                    <a:srgbClr val="6383EC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en-US" altLang="ko-KR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  <a:p>
                    <a:pPr algn="ctr"/>
                    <a:endParaRPr lang="en-US" altLang="ko-KR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mc:Choice>
            <mc:Fallback xmlns="">
              <p:sp>
                <p:nvSpPr>
                  <p:cNvPr id="2" name="타원 1">
                    <a:extLst>
                      <a:ext uri="{FF2B5EF4-FFF2-40B4-BE49-F238E27FC236}">
                        <a16:creationId xmlns:a16="http://schemas.microsoft.com/office/drawing/2014/main" id="{3068CE97-2973-0E2A-2500-64DCD2A9125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37846" y="2588383"/>
                    <a:ext cx="1291281" cy="1904682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직선 화살표 연결선 22">
                <a:extLst>
                  <a:ext uri="{FF2B5EF4-FFF2-40B4-BE49-F238E27FC236}">
                    <a16:creationId xmlns:a16="http://schemas.microsoft.com/office/drawing/2014/main" id="{A05C14C0-5528-D338-A74A-B8859B04D4AE}"/>
                  </a:ext>
                </a:extLst>
              </p:cNvPr>
              <p:cNvCxnSpPr/>
              <p:nvPr/>
            </p:nvCxnSpPr>
            <p:spPr>
              <a:xfrm>
                <a:off x="2956021" y="3472619"/>
                <a:ext cx="0" cy="255668"/>
              </a:xfrm>
              <a:prstGeom prst="straightConnector1">
                <a:avLst/>
              </a:prstGeom>
              <a:ln w="1905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54F44737-0CEB-DA97-C535-85819151395E}"/>
                </a:ext>
              </a:extLst>
            </p:cNvPr>
            <p:cNvGrpSpPr/>
            <p:nvPr/>
          </p:nvGrpSpPr>
          <p:grpSpPr>
            <a:xfrm>
              <a:off x="5500058" y="2588382"/>
              <a:ext cx="1291281" cy="1904682"/>
              <a:chOff x="5500058" y="2588382"/>
              <a:chExt cx="1291281" cy="19046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타원 2">
                    <a:extLst>
                      <a:ext uri="{FF2B5EF4-FFF2-40B4-BE49-F238E27FC236}">
                        <a16:creationId xmlns:a16="http://schemas.microsoft.com/office/drawing/2014/main" id="{91B487A8-FDA2-B5AA-93F3-B39C432B3446}"/>
                      </a:ext>
                    </a:extLst>
                  </p:cNvPr>
                  <p:cNvSpPr/>
                  <p:nvPr/>
                </p:nvSpPr>
                <p:spPr>
                  <a:xfrm>
                    <a:off x="5500058" y="2588382"/>
                    <a:ext cx="1291281" cy="1904682"/>
                  </a:xfrm>
                  <a:prstGeom prst="ellipse">
                    <a:avLst/>
                  </a:prstGeom>
                  <a:solidFill>
                    <a:srgbClr val="6383EC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altLang="ko-KR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  <a:p>
                    <a:pPr algn="ctr"/>
                    <a:endParaRPr lang="en-US" altLang="ko-KR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mc:Choice>
            <mc:Fallback xmlns="">
              <p:sp>
                <p:nvSpPr>
                  <p:cNvPr id="3" name="타원 2">
                    <a:extLst>
                      <a:ext uri="{FF2B5EF4-FFF2-40B4-BE49-F238E27FC236}">
                        <a16:creationId xmlns:a16="http://schemas.microsoft.com/office/drawing/2014/main" id="{91B487A8-FDA2-B5AA-93F3-B39C432B344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00058" y="2588382"/>
                    <a:ext cx="1291281" cy="1904682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2BF73513-E726-A957-FA6C-E2A152ADDE45}"/>
                  </a:ext>
                </a:extLst>
              </p:cNvPr>
              <p:cNvCxnSpPr/>
              <p:nvPr/>
            </p:nvCxnSpPr>
            <p:spPr>
              <a:xfrm>
                <a:off x="6145698" y="3483064"/>
                <a:ext cx="0" cy="255668"/>
              </a:xfrm>
              <a:prstGeom prst="straightConnector1">
                <a:avLst/>
              </a:prstGeom>
              <a:ln w="1905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B86C0EE9-F04F-48D4-9E7E-88A299BB3F56}"/>
                </a:ext>
              </a:extLst>
            </p:cNvPr>
            <p:cNvGrpSpPr/>
            <p:nvPr/>
          </p:nvGrpSpPr>
          <p:grpSpPr>
            <a:xfrm>
              <a:off x="8659954" y="2588382"/>
              <a:ext cx="1291281" cy="1904682"/>
              <a:chOff x="8659954" y="2588382"/>
              <a:chExt cx="1291281" cy="190468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타원 4">
                    <a:extLst>
                      <a:ext uri="{FF2B5EF4-FFF2-40B4-BE49-F238E27FC236}">
                        <a16:creationId xmlns:a16="http://schemas.microsoft.com/office/drawing/2014/main" id="{2FCA1AC5-DFD2-7B17-E49F-FA579AB5FB55}"/>
                      </a:ext>
                    </a:extLst>
                  </p:cNvPr>
                  <p:cNvSpPr/>
                  <p:nvPr/>
                </p:nvSpPr>
                <p:spPr>
                  <a:xfrm>
                    <a:off x="8659954" y="2588382"/>
                    <a:ext cx="1291281" cy="1904682"/>
                  </a:xfrm>
                  <a:prstGeom prst="ellipse">
                    <a:avLst/>
                  </a:prstGeom>
                  <a:solidFill>
                    <a:srgbClr val="6383EC"/>
                  </a:solidFill>
                  <a:ln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oMath>
                      </m:oMathPara>
                    </a14:m>
                    <a:endParaRPr lang="en-US" altLang="ko-KR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  <a:p>
                    <a:pPr algn="ctr"/>
                    <a:endParaRPr lang="en-US" altLang="ko-KR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5" name="타원 4">
                    <a:extLst>
                      <a:ext uri="{FF2B5EF4-FFF2-40B4-BE49-F238E27FC236}">
                        <a16:creationId xmlns:a16="http://schemas.microsoft.com/office/drawing/2014/main" id="{2FCA1AC5-DFD2-7B17-E49F-FA579AB5FB5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59954" y="2588382"/>
                    <a:ext cx="1291281" cy="1904682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D2DF9820-7E00-AC01-7D3D-C6B4857E9A92}"/>
                  </a:ext>
                </a:extLst>
              </p:cNvPr>
              <p:cNvCxnSpPr/>
              <p:nvPr/>
            </p:nvCxnSpPr>
            <p:spPr>
              <a:xfrm>
                <a:off x="9309713" y="3467276"/>
                <a:ext cx="0" cy="255668"/>
              </a:xfrm>
              <a:prstGeom prst="straightConnector1">
                <a:avLst/>
              </a:prstGeom>
              <a:ln w="19050">
                <a:solidFill>
                  <a:schemeClr val="bg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416C0EC6-334E-DE37-653B-75647291C00F}"/>
                </a:ext>
              </a:extLst>
            </p:cNvPr>
            <p:cNvCxnSpPr>
              <a:cxnSpLocks/>
            </p:cNvCxnSpPr>
            <p:nvPr/>
          </p:nvCxnSpPr>
          <p:spPr>
            <a:xfrm>
              <a:off x="3590667" y="3260733"/>
              <a:ext cx="2234428" cy="18426"/>
            </a:xfrm>
            <a:prstGeom prst="straightConnector1">
              <a:avLst/>
            </a:prstGeom>
            <a:ln w="28575">
              <a:solidFill>
                <a:srgbClr val="FF898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0A8D8B36-E42B-5543-CB87-E71E02045E91}"/>
                </a:ext>
              </a:extLst>
            </p:cNvPr>
            <p:cNvCxnSpPr>
              <a:cxnSpLocks/>
            </p:cNvCxnSpPr>
            <p:nvPr/>
          </p:nvCxnSpPr>
          <p:spPr>
            <a:xfrm>
              <a:off x="6750908" y="3279269"/>
              <a:ext cx="2250989" cy="0"/>
            </a:xfrm>
            <a:prstGeom prst="straightConnector1">
              <a:avLst/>
            </a:prstGeom>
            <a:ln w="28575">
              <a:solidFill>
                <a:srgbClr val="FF898C"/>
              </a:solidFill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74859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Markov Decision Process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454ABDC-2ED8-E88E-9240-18FCF56BC07E}"/>
              </a:ext>
            </a:extLst>
          </p:cNvPr>
          <p:cNvSpPr txBox="1"/>
          <p:nvPr/>
        </p:nvSpPr>
        <p:spPr>
          <a:xfrm>
            <a:off x="2548697" y="1583623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898C"/>
                </a:solidFill>
                <a:latin typeface="Britannic Bold" panose="020B0903060703020204" pitchFamily="34" charset="0"/>
                <a:ea typeface="SB 어그로 Medium" panose="02020603020101020101" pitchFamily="18" charset="-127"/>
              </a:rPr>
              <a:t>Action</a:t>
            </a:r>
            <a:endParaRPr lang="ko-KR" altLang="en-US" dirty="0">
              <a:solidFill>
                <a:srgbClr val="FF898C"/>
              </a:solidFill>
              <a:latin typeface="Britannic Bold" panose="020B0903060703020204" pitchFamily="34" charset="0"/>
              <a:ea typeface="SB 어그로 Medium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88C9E6-B02C-E974-FE32-B48A5824048E}"/>
              </a:ext>
            </a:extLst>
          </p:cNvPr>
          <p:cNvSpPr txBox="1"/>
          <p:nvPr/>
        </p:nvSpPr>
        <p:spPr>
          <a:xfrm>
            <a:off x="5738374" y="1583623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898C"/>
                </a:solidFill>
                <a:latin typeface="Britannic Bold" panose="020B0903060703020204" pitchFamily="34" charset="0"/>
                <a:ea typeface="SB 어그로 Medium" panose="02020603020101020101" pitchFamily="18" charset="-127"/>
              </a:rPr>
              <a:t>Action</a:t>
            </a:r>
            <a:endParaRPr lang="ko-KR" altLang="en-US" dirty="0">
              <a:solidFill>
                <a:srgbClr val="FF898C"/>
              </a:solidFill>
              <a:latin typeface="Britannic Bold" panose="020B0903060703020204" pitchFamily="34" charset="0"/>
              <a:ea typeface="SB 어그로 Medium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D8971C-BCE2-B833-8682-9DFA668896F1}"/>
              </a:ext>
            </a:extLst>
          </p:cNvPr>
          <p:cNvSpPr txBox="1"/>
          <p:nvPr/>
        </p:nvSpPr>
        <p:spPr>
          <a:xfrm>
            <a:off x="8898270" y="1583623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898C"/>
                </a:solidFill>
                <a:latin typeface="Britannic Bold" panose="020B0903060703020204" pitchFamily="34" charset="0"/>
                <a:ea typeface="SB 어그로 Medium" panose="02020603020101020101" pitchFamily="18" charset="-127"/>
              </a:rPr>
              <a:t>Action</a:t>
            </a:r>
            <a:endParaRPr lang="ko-KR" altLang="en-US" dirty="0">
              <a:solidFill>
                <a:srgbClr val="FF898C"/>
              </a:solidFill>
              <a:latin typeface="Britannic Bold" panose="020B0903060703020204" pitchFamily="34" charset="0"/>
              <a:ea typeface="SB 어그로 Medium" panose="020206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B13918AC-7A68-EA7C-EC5B-8E6173695D10}"/>
                  </a:ext>
                </a:extLst>
              </p:cNvPr>
              <p:cNvSpPr/>
              <p:nvPr/>
            </p:nvSpPr>
            <p:spPr>
              <a:xfrm>
                <a:off x="444829" y="4327233"/>
                <a:ext cx="1815458" cy="573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</a:rPr>
                  <a:t>상</a:t>
                </a:r>
                <a14:m>
                  <m:oMath xmlns:m="http://schemas.openxmlformats.org/officeDocument/2006/math">
                    <m:r>
                      <a:rPr lang="ko-KR" altLang="en-US" sz="11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태</m:t>
                    </m:r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</a:rPr>
                  <a:t>에서 에이전트는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</a:rPr>
                  <a:t>선택한다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B13918AC-7A68-EA7C-EC5B-8E6173695D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29" y="4327233"/>
                <a:ext cx="1815458" cy="573875"/>
              </a:xfrm>
              <a:prstGeom prst="rect">
                <a:avLst/>
              </a:prstGeom>
              <a:blipFill>
                <a:blip r:embed="rId3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FFD4B485-0D1E-AF9D-7686-E0CE81A03355}"/>
                  </a:ext>
                </a:extLst>
              </p:cNvPr>
              <p:cNvSpPr/>
              <p:nvPr/>
            </p:nvSpPr>
            <p:spPr>
              <a:xfrm>
                <a:off x="3415484" y="4860519"/>
                <a:ext cx="2409196" cy="5727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선택한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까</m:t>
                    </m:r>
                  </m:oMath>
                </a14:m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지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</a:rPr>
                  <a:t>행동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한 결과가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이 된다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FFD4B485-0D1E-AF9D-7686-E0CE81A033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484" y="4860519"/>
                <a:ext cx="2409196" cy="572721"/>
              </a:xfrm>
              <a:prstGeom prst="rect">
                <a:avLst/>
              </a:prstGeom>
              <a:blipFill>
                <a:blip r:embed="rId4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타원 34">
            <a:extLst>
              <a:ext uri="{FF2B5EF4-FFF2-40B4-BE49-F238E27FC236}">
                <a16:creationId xmlns:a16="http://schemas.microsoft.com/office/drawing/2014/main" id="{1FD61644-8624-97C8-D656-9A6D4F1153AB}"/>
              </a:ext>
            </a:extLst>
          </p:cNvPr>
          <p:cNvSpPr/>
          <p:nvPr/>
        </p:nvSpPr>
        <p:spPr>
          <a:xfrm>
            <a:off x="2814912" y="3708191"/>
            <a:ext cx="328886" cy="298890"/>
          </a:xfrm>
          <a:prstGeom prst="ellipse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B993A725-C6DF-73A3-34C7-336778867EE8}"/>
              </a:ext>
            </a:extLst>
          </p:cNvPr>
          <p:cNvSpPr/>
          <p:nvPr/>
        </p:nvSpPr>
        <p:spPr>
          <a:xfrm>
            <a:off x="4455639" y="3111288"/>
            <a:ext cx="328886" cy="298890"/>
          </a:xfrm>
          <a:prstGeom prst="ellipse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C21FFF5E-6434-0EC5-05D0-C7F8C07143AC}"/>
              </a:ext>
            </a:extLst>
          </p:cNvPr>
          <p:cNvCxnSpPr>
            <a:cxnSpLocks/>
            <a:stCxn id="49" idx="4"/>
            <a:endCxn id="32" idx="0"/>
          </p:cNvCxnSpPr>
          <p:nvPr/>
        </p:nvCxnSpPr>
        <p:spPr>
          <a:xfrm rot="5400000">
            <a:off x="3894912" y="4135348"/>
            <a:ext cx="1450341" cy="12700"/>
          </a:xfrm>
          <a:prstGeom prst="curvedConnector3">
            <a:avLst>
              <a:gd name="adj1" fmla="val 50000"/>
            </a:avLst>
          </a:prstGeom>
          <a:ln w="1587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381D6096-6C65-A6F1-27E1-86AEB91B4FC3}"/>
              </a:ext>
            </a:extLst>
          </p:cNvPr>
          <p:cNvSpPr/>
          <p:nvPr/>
        </p:nvSpPr>
        <p:spPr>
          <a:xfrm>
            <a:off x="5838109" y="3149572"/>
            <a:ext cx="574375" cy="298890"/>
          </a:xfrm>
          <a:prstGeom prst="ellipse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08743C4E-519E-92E3-FECD-357B710914E5}"/>
              </a:ext>
            </a:extLst>
          </p:cNvPr>
          <p:cNvCxnSpPr>
            <a:cxnSpLocks/>
            <a:stCxn id="53" idx="0"/>
            <a:endCxn id="57" idx="1"/>
          </p:cNvCxnSpPr>
          <p:nvPr/>
        </p:nvCxnSpPr>
        <p:spPr>
          <a:xfrm rot="5400000" flipH="1" flipV="1">
            <a:off x="5957969" y="2442186"/>
            <a:ext cx="874715" cy="540058"/>
          </a:xfrm>
          <a:prstGeom prst="curvedConnector2">
            <a:avLst/>
          </a:prstGeom>
          <a:ln w="1587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1A62D01D-ACDE-E791-A994-82E449159687}"/>
                  </a:ext>
                </a:extLst>
              </p:cNvPr>
              <p:cNvSpPr/>
              <p:nvPr/>
            </p:nvSpPr>
            <p:spPr>
              <a:xfrm>
                <a:off x="6665355" y="1988720"/>
                <a:ext cx="2187413" cy="572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상</m:t>
                    </m:r>
                    <m:r>
                      <a:rPr lang="ko-KR" altLang="en-US" sz="11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태</m:t>
                    </m:r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은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와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의 특성 모두를 가지고 있다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1A62D01D-ACDE-E791-A994-82E4491596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355" y="1988720"/>
                <a:ext cx="2187413" cy="572273"/>
              </a:xfrm>
              <a:prstGeom prst="rect">
                <a:avLst/>
              </a:prstGeom>
              <a:blipFill>
                <a:blip r:embed="rId5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타원 64">
            <a:extLst>
              <a:ext uri="{FF2B5EF4-FFF2-40B4-BE49-F238E27FC236}">
                <a16:creationId xmlns:a16="http://schemas.microsoft.com/office/drawing/2014/main" id="{17981900-809C-D8F1-051C-31891A414B04}"/>
              </a:ext>
            </a:extLst>
          </p:cNvPr>
          <p:cNvSpPr/>
          <p:nvPr/>
        </p:nvSpPr>
        <p:spPr>
          <a:xfrm>
            <a:off x="5838108" y="3712832"/>
            <a:ext cx="574369" cy="298890"/>
          </a:xfrm>
          <a:prstGeom prst="ellipse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1734DC3D-A5BF-623D-4B0F-66477E6E7C2A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6412477" y="3867849"/>
            <a:ext cx="1463925" cy="1032146"/>
          </a:xfrm>
          <a:prstGeom prst="curvedConnector2">
            <a:avLst/>
          </a:prstGeom>
          <a:ln w="1587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9B7B789C-B57B-51CC-A327-53E307199BE4}"/>
                  </a:ext>
                </a:extLst>
              </p:cNvPr>
              <p:cNvSpPr/>
              <p:nvPr/>
            </p:nvSpPr>
            <p:spPr>
              <a:xfrm>
                <a:off x="6575931" y="4899995"/>
                <a:ext cx="2600941" cy="567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다음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​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를 바탕으로 에이전트는 새로운 행동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​)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을 선택한다</a:t>
                </a: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9B7B789C-B57B-51CC-A327-53E307199B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931" y="4899995"/>
                <a:ext cx="2600941" cy="567912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Freeform 9">
            <a:extLst>
              <a:ext uri="{FF2B5EF4-FFF2-40B4-BE49-F238E27FC236}">
                <a16:creationId xmlns:a16="http://schemas.microsoft.com/office/drawing/2014/main" id="{7E225DEB-B926-AADA-A731-92DBD849E93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5" name="Group 12">
            <a:extLst>
              <a:ext uri="{FF2B5EF4-FFF2-40B4-BE49-F238E27FC236}">
                <a16:creationId xmlns:a16="http://schemas.microsoft.com/office/drawing/2014/main" id="{394FF201-A979-AE91-F8DF-D9A80B3139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20CD12B9-E2FE-BD35-97E4-025B9725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37EB6F-6B53-5F18-E442-957B3380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A819A7AF-34FB-41A9-AC7D-4B0ADC09BA89}"/>
              </a:ext>
            </a:extLst>
          </p:cNvPr>
          <p:cNvCxnSpPr>
            <a:cxnSpLocks/>
            <a:stCxn id="35" idx="4"/>
          </p:cNvCxnSpPr>
          <p:nvPr/>
        </p:nvCxnSpPr>
        <p:spPr>
          <a:xfrm rot="5400000">
            <a:off x="2284849" y="3904959"/>
            <a:ext cx="592385" cy="796629"/>
          </a:xfrm>
          <a:prstGeom prst="curvedConnector2">
            <a:avLst/>
          </a:prstGeom>
          <a:ln w="15875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80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74859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Definition of MP </a:t>
            </a:r>
            <a:r>
              <a:rPr lang="en-US" altLang="ko-KR" sz="1400" kern="0" dirty="0">
                <a:solidFill>
                  <a:prstClr val="white">
                    <a:lumMod val="75000"/>
                  </a:prstClr>
                </a:solidFill>
              </a:rPr>
              <a:t>Markov Process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9">
            <a:extLst>
              <a:ext uri="{FF2B5EF4-FFF2-40B4-BE49-F238E27FC236}">
                <a16:creationId xmlns:a16="http://schemas.microsoft.com/office/drawing/2014/main" id="{7E225DEB-B926-AADA-A731-92DBD849E93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5" name="Group 12">
            <a:extLst>
              <a:ext uri="{FF2B5EF4-FFF2-40B4-BE49-F238E27FC236}">
                <a16:creationId xmlns:a16="http://schemas.microsoft.com/office/drawing/2014/main" id="{394FF201-A979-AE91-F8DF-D9A80B3139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20CD12B9-E2FE-BD35-97E4-025B9725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37EB6F-6B53-5F18-E442-957B3380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45BF89-2C2A-F393-E304-7AEEE09B8D01}"/>
                  </a:ext>
                </a:extLst>
              </p:cNvPr>
              <p:cNvSpPr txBox="1"/>
              <p:nvPr/>
            </p:nvSpPr>
            <p:spPr>
              <a:xfrm>
                <a:off x="2373280" y="2417340"/>
                <a:ext cx="8325324" cy="2366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en-US" altLang="ko-KR" b="1" dirty="0">
                    <a:latin typeface="Baskerville Old Face" panose="02020602080505020303" pitchFamily="18" charset="0"/>
                  </a:rPr>
                  <a:t>Definition 1</a:t>
                </a:r>
                <a:r>
                  <a:rPr lang="en-US" altLang="ko-KR" dirty="0">
                    <a:latin typeface="Baskerville Old Face" panose="02020602080505020303" pitchFamily="18" charset="0"/>
                  </a:rPr>
                  <a:t>. A (discrete-time) Markov chain with (finite or countable) state space </a:t>
                </a:r>
                <a:r>
                  <a:rPr lang="en-US" altLang="ko-KR" dirty="0">
                    <a:latin typeface="French Script MT" panose="03020402040607040605" pitchFamily="66" charset="0"/>
                  </a:rPr>
                  <a:t>X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Baskerville Old Face" panose="02020602080505020303" pitchFamily="18" charset="0"/>
                  </a:rPr>
                  <a:t>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altLang="ko-KR" dirty="0">
                    <a:latin typeface="Baskerville Old Face" panose="02020602080505020303" pitchFamily="18" charset="0"/>
                  </a:rPr>
                  <a:t> of </a:t>
                </a:r>
                <a:r>
                  <a:rPr lang="en-US" altLang="ko-KR" dirty="0">
                    <a:latin typeface="French Script MT" panose="03020402040607040605" pitchFamily="66" charset="0"/>
                  </a:rPr>
                  <a:t>X</a:t>
                </a:r>
                <a:r>
                  <a:rPr lang="en-US" altLang="ko-KR" dirty="0">
                    <a:latin typeface="Baskerville Old Face" panose="02020602080505020303" pitchFamily="18" charset="0"/>
                  </a:rPr>
                  <a:t> − valued random variables such that for all states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ko-KR" dirty="0">
                        <a:latin typeface="Baskerville Old Face" panose="02020602080505020303" pitchFamily="18" charset="0"/>
                      </a:rPr>
                      <m:t>···</m:t>
                    </m:r>
                  </m:oMath>
                </a14:m>
                <a:r>
                  <a:rPr lang="en-US" altLang="ko-KR" dirty="0">
                    <a:latin typeface="Baskerville Old Face" panose="02020602080505020303" pitchFamily="18" charset="0"/>
                  </a:rPr>
                  <a:t> and all times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= 0, 1, 2,…, </m:t>
                    </m:r>
                  </m:oMath>
                </a14:m>
                <a:endParaRPr lang="en-US" altLang="ko-KR" dirty="0">
                  <a:latin typeface="Baskerville Old Face" panose="02020602080505020303" pitchFamily="18" charset="0"/>
                </a:endParaRPr>
              </a:p>
              <a:p>
                <a:pPr>
                  <a:lnSpc>
                    <a:spcPts val="3000"/>
                  </a:lnSpc>
                </a:pPr>
                <a:r>
                  <a:rPr lang="en-US" altLang="ko-KR" dirty="0">
                    <a:latin typeface="Baskerville Old Face" panose="02020602080505020303" pitchFamily="18" charset="0"/>
                  </a:rPr>
                  <a:t>(1) </a:t>
                </a:r>
                <a:r>
                  <a:rPr lang="en-US" altLang="ko-KR" dirty="0"/>
                  <a:t>	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,…)=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Baskerville Old Face" panose="02020602080505020303" pitchFamily="18" charset="0"/>
                </a:endParaRPr>
              </a:p>
              <a:p>
                <a:pPr>
                  <a:lnSpc>
                    <a:spcPts val="3000"/>
                  </a:lnSpc>
                </a:pPr>
                <a:r>
                  <a:rPr lang="en-US" altLang="ko-KR" dirty="0">
                    <a:latin typeface="Baskerville Old Face" panose="02020602080505020303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>
                    <a:latin typeface="Baskerville Old Face" panose="02020602080505020303" pitchFamily="18" charset="0"/>
                  </a:rPr>
                  <a:t>depends only on the states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Baskerville Old Face" panose="02020602080505020303" pitchFamily="18" charset="0"/>
                  </a:rPr>
                  <a:t>, and not on the time n or the previous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−2, …</m:t>
                    </m:r>
                  </m:oMath>
                </a14:m>
                <a:r>
                  <a:rPr lang="en-US" altLang="ko-KR" dirty="0">
                    <a:latin typeface="Baskerville Old Face" panose="02020602080505020303" pitchFamily="18" charset="0"/>
                  </a:rPr>
                  <a:t>. The numbers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>
                    <a:latin typeface="Baskerville Old Face" panose="02020602080505020303" pitchFamily="18" charset="0"/>
                  </a:rPr>
                  <a:t>are called the transition probabilities of the chain. </a:t>
                </a:r>
                <a:endParaRPr lang="ko-KR" altLang="en-US" dirty="0">
                  <a:latin typeface="Baskerville Old Face" panose="02020602080505020303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45BF89-2C2A-F393-E304-7AEEE09B8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280" y="2417340"/>
                <a:ext cx="8325324" cy="2366225"/>
              </a:xfrm>
              <a:prstGeom prst="rect">
                <a:avLst/>
              </a:prstGeom>
              <a:blipFill>
                <a:blip r:embed="rId3"/>
                <a:stretch>
                  <a:fillRect l="-586" b="-33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184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74859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Definition of MP </a:t>
            </a:r>
            <a:r>
              <a:rPr lang="en-US" altLang="ko-KR" sz="1400" kern="0" dirty="0">
                <a:solidFill>
                  <a:prstClr val="white">
                    <a:lumMod val="75000"/>
                  </a:prstClr>
                </a:solidFill>
              </a:rPr>
              <a:t>Markov Process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9">
            <a:extLst>
              <a:ext uri="{FF2B5EF4-FFF2-40B4-BE49-F238E27FC236}">
                <a16:creationId xmlns:a16="http://schemas.microsoft.com/office/drawing/2014/main" id="{7E225DEB-B926-AADA-A731-92DBD849E93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5" name="Group 12">
            <a:extLst>
              <a:ext uri="{FF2B5EF4-FFF2-40B4-BE49-F238E27FC236}">
                <a16:creationId xmlns:a16="http://schemas.microsoft.com/office/drawing/2014/main" id="{394FF201-A979-AE91-F8DF-D9A80B3139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20CD12B9-E2FE-BD35-97E4-025B9725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37EB6F-6B53-5F18-E442-957B3380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4128F1D-5978-C227-795E-D774BA3BB0F6}"/>
                  </a:ext>
                </a:extLst>
              </p:cNvPr>
              <p:cNvSpPr/>
              <p:nvPr/>
            </p:nvSpPr>
            <p:spPr>
              <a:xfrm>
                <a:off x="2083677" y="1727344"/>
                <a:ext cx="8823219" cy="3746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Markov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 </a:t>
                </a:r>
                <a:r>
                  <a:rPr lang="en-US" altLang="ko-KR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Process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는 </a:t>
                </a:r>
                <a:r>
                  <a:rPr lang="en-US" altLang="ko-KR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Markov Property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를 만족시키는 확률적 과정</a:t>
                </a:r>
                <a:endParaRPr lang="en-US" altLang="ko-KR" sz="1600" b="1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조건부 확률 분포가 이전 이벤트와 무관하게 현재 상태에만 의존하는 경우 </a:t>
                </a:r>
                <a:r>
                  <a:rPr lang="en-US" altLang="ko-KR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Markov Property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를 가지고 있다</a:t>
                </a: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고 함</a:t>
                </a: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MP</a:t>
                </a: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를 해석하면 </a:t>
                </a: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‘</a:t>
                </a: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현재 상태에만 의존하여 변화하는 확률적 과정</a:t>
                </a: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’</a:t>
                </a: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을 말함</a:t>
                </a: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수식</a:t>
                </a: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16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ko-KR" sz="16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,…,  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altLang="ko-KR" sz="1600" b="0" i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b="0" i="1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b="1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dirty="0" err="1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마르코프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 성질</a:t>
                </a:r>
                <a:r>
                  <a:rPr lang="en-US" altLang="ko-KR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(Markov Property)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는 </a:t>
                </a:r>
                <a:r>
                  <a:rPr lang="en-US" altLang="ko-KR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‘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미래는 오직 현재의 의해 결정된다</a:t>
                </a:r>
                <a:r>
                  <a:rPr lang="en-US" altLang="ko-KR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’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는 것</a:t>
                </a: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을 나타냄</a:t>
                </a: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16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sz="16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600" b="1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ko-KR" altLang="en-US" sz="16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en-US" altLang="ko-KR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 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될 확률</a:t>
                </a:r>
                <a:r>
                  <a:rPr lang="ko-KR" altLang="en-US" sz="1600" b="0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은 그 전에 어떤 상태들이 오든 </a:t>
                </a:r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바로 전 상태인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16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ko-KR" altLang="en-US" sz="1600" b="1" dirty="0">
                    <a:solidFill>
                      <a:schemeClr val="bg2">
                        <a:lumMod val="50000"/>
                      </a:schemeClr>
                    </a:solidFill>
                    <a:latin typeface="THE명품고딕R_U" panose="02020603020101020101" pitchFamily="18" charset="-127"/>
                    <a:ea typeface="THE명품고딕R_U" panose="02020603020101020101" pitchFamily="18" charset="-127"/>
                  </a:rPr>
                  <a:t>만 주어지면 충분</a:t>
                </a:r>
                <a:endParaRPr lang="en-US" altLang="ko-KR" sz="1600" b="0" dirty="0">
                  <a:solidFill>
                    <a:schemeClr val="bg2">
                      <a:lumMod val="50000"/>
                    </a:schemeClr>
                  </a:solidFill>
                  <a:latin typeface="THE명품고딕R_U" panose="02020603020101020101" pitchFamily="18" charset="-127"/>
                  <a:ea typeface="THE명품고딕R_U" panose="02020603020101020101" pitchFamily="18" charset="-127"/>
                </a:endParaRPr>
              </a:p>
            </p:txBody>
          </p:sp>
        </mc:Choice>
        <mc:Fallback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4128F1D-5978-C227-795E-D774BA3BB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677" y="1727344"/>
                <a:ext cx="8823219" cy="3746218"/>
              </a:xfrm>
              <a:prstGeom prst="rect">
                <a:avLst/>
              </a:prstGeom>
              <a:blipFill>
                <a:blip r:embed="rId3"/>
                <a:stretch>
                  <a:fillRect l="-276" b="-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449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74859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Example of MP </a:t>
            </a:r>
            <a:r>
              <a:rPr lang="en-US" altLang="ko-KR" sz="1400" kern="0" dirty="0">
                <a:solidFill>
                  <a:prstClr val="white">
                    <a:lumMod val="75000"/>
                  </a:prstClr>
                </a:solidFill>
              </a:rPr>
              <a:t>Markov Process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9">
            <a:extLst>
              <a:ext uri="{FF2B5EF4-FFF2-40B4-BE49-F238E27FC236}">
                <a16:creationId xmlns:a16="http://schemas.microsoft.com/office/drawing/2014/main" id="{7E225DEB-B926-AADA-A731-92DBD849E93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5" name="Group 12">
            <a:extLst>
              <a:ext uri="{FF2B5EF4-FFF2-40B4-BE49-F238E27FC236}">
                <a16:creationId xmlns:a16="http://schemas.microsoft.com/office/drawing/2014/main" id="{394FF201-A979-AE91-F8DF-D9A80B3139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20CD12B9-E2FE-BD35-97E4-025B9725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37EB6F-6B53-5F18-E442-957B3380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E983C7-2EB1-8271-2297-EF34CBDCE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06" y="2057978"/>
            <a:ext cx="4771483" cy="308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7AC1C087-7DB9-A12B-F7B9-0D5AED7F586F}"/>
                  </a:ext>
                </a:extLst>
              </p:cNvPr>
              <p:cNvSpPr/>
              <p:nvPr/>
            </p:nvSpPr>
            <p:spPr>
              <a:xfrm>
                <a:off x="7264803" y="2656925"/>
                <a:ext cx="3800837" cy="2146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상태 집합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4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400" b="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400" b="0" i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 …,</m:t>
                        </m:r>
                        <m:sSub>
                          <m:sSubPr>
                            <m:ctrlPr>
                              <a:rPr lang="en-US" altLang="ko-KR" sz="1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400" i="1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4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상태 변환 확률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altLang="ko-KR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𝑠𝑠</m:t>
                        </m:r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|"/>
                        <m:ctrlP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altLang="ko-KR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4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4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400" b="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altLang="ko-KR" sz="1400" b="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sz="1400" b="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altLang="ko-KR" sz="1400" b="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US" altLang="ko-KR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ko-KR" sz="1400" b="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</p:txBody>
          </p:sp>
        </mc:Choice>
        <mc:Fallback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7AC1C087-7DB9-A12B-F7B9-0D5AED7F58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803" y="2656925"/>
                <a:ext cx="3800837" cy="2146806"/>
              </a:xfrm>
              <a:prstGeom prst="rect">
                <a:avLst/>
              </a:prstGeom>
              <a:blipFill>
                <a:blip r:embed="rId4"/>
                <a:stretch>
                  <a:fillRect l="-4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218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위쪽 모서리 33">
            <a:extLst>
              <a:ext uri="{FF2B5EF4-FFF2-40B4-BE49-F238E27FC236}">
                <a16:creationId xmlns:a16="http://schemas.microsoft.com/office/drawing/2014/main" id="{477F8443-DF61-AC78-0CB8-C886EB2EA4E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DF944017-AA9D-710B-18A4-6F4F7133184B}"/>
              </a:ext>
            </a:extLst>
          </p:cNvPr>
          <p:cNvSpPr/>
          <p:nvPr/>
        </p:nvSpPr>
        <p:spPr>
          <a:xfrm>
            <a:off x="-4298" y="74859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9" name="자유형 23">
            <a:extLst>
              <a:ext uri="{FF2B5EF4-FFF2-40B4-BE49-F238E27FC236}">
                <a16:creationId xmlns:a16="http://schemas.microsoft.com/office/drawing/2014/main" id="{13134255-8809-5B57-7568-B2EC5A6E6C8C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8F40514-308A-824A-8B38-5883471024F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8" name="Freeform 36">
            <a:extLst>
              <a:ext uri="{FF2B5EF4-FFF2-40B4-BE49-F238E27FC236}">
                <a16:creationId xmlns:a16="http://schemas.microsoft.com/office/drawing/2014/main" id="{E8786195-68C8-D043-25CA-92A11274DF01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3C4B27B-05A3-8255-7D14-7D1127762CD6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Example of MP </a:t>
            </a:r>
            <a:r>
              <a:rPr lang="en-US" altLang="ko-KR" sz="1400" kern="0" dirty="0">
                <a:solidFill>
                  <a:prstClr val="white">
                    <a:lumMod val="75000"/>
                  </a:prstClr>
                </a:solidFill>
              </a:rPr>
              <a:t>Markov Process</a:t>
            </a:r>
            <a:endParaRPr lang="ko-KR" altLang="en-US" sz="14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9">
            <a:extLst>
              <a:ext uri="{FF2B5EF4-FFF2-40B4-BE49-F238E27FC236}">
                <a16:creationId xmlns:a16="http://schemas.microsoft.com/office/drawing/2014/main" id="{7E225DEB-B926-AADA-A731-92DBD849E932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5" name="Group 12">
            <a:extLst>
              <a:ext uri="{FF2B5EF4-FFF2-40B4-BE49-F238E27FC236}">
                <a16:creationId xmlns:a16="http://schemas.microsoft.com/office/drawing/2014/main" id="{394FF201-A979-AE91-F8DF-D9A80B3139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20CD12B9-E2FE-BD35-97E4-025B97250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F737EB6F-6B53-5F18-E442-957B3380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D964E2FB-BC23-4849-7CE9-19BDD1A11B3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E983C7-2EB1-8271-2297-EF34CBDCE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06" y="2057978"/>
            <a:ext cx="4771483" cy="308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7217A34-1F85-A789-879C-E4854F0AB1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44919"/>
                  </p:ext>
                </p:extLst>
              </p:nvPr>
            </p:nvGraphicFramePr>
            <p:xfrm>
              <a:off x="7264803" y="2609388"/>
              <a:ext cx="3498402" cy="19821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3067">
                      <a:extLst>
                        <a:ext uri="{9D8B030D-6E8A-4147-A177-3AD203B41FA5}">
                          <a16:colId xmlns:a16="http://schemas.microsoft.com/office/drawing/2014/main" val="3443868051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2161728254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2893477557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1142777827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1543836132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4006177520"/>
                        </a:ext>
                      </a:extLst>
                    </a:gridCol>
                  </a:tblGrid>
                  <a:tr h="330355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6372300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0.2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0.8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9058468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0.1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0.9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3873984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0.7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0.3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3841180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1.0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447463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bg2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1.0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66879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3">
                <a:extLst>
                  <a:ext uri="{FF2B5EF4-FFF2-40B4-BE49-F238E27FC236}">
                    <a16:creationId xmlns:a16="http://schemas.microsoft.com/office/drawing/2014/main" id="{37217A34-1F85-A789-879C-E4854F0AB1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44919"/>
                  </p:ext>
                </p:extLst>
              </p:nvPr>
            </p:nvGraphicFramePr>
            <p:xfrm>
              <a:off x="7264803" y="2609388"/>
              <a:ext cx="3498402" cy="19821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3067">
                      <a:extLst>
                        <a:ext uri="{9D8B030D-6E8A-4147-A177-3AD203B41FA5}">
                          <a16:colId xmlns:a16="http://schemas.microsoft.com/office/drawing/2014/main" val="3443868051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2161728254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2893477557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1142777827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1543836132"/>
                        </a:ext>
                      </a:extLst>
                    </a:gridCol>
                    <a:gridCol w="583067">
                      <a:extLst>
                        <a:ext uri="{9D8B030D-6E8A-4147-A177-3AD203B41FA5}">
                          <a16:colId xmlns:a16="http://schemas.microsoft.com/office/drawing/2014/main" val="4006177520"/>
                        </a:ext>
                      </a:extLst>
                    </a:gridCol>
                  </a:tblGrid>
                  <a:tr h="330355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r="-400000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r="-300000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3158" r="-203158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8958" r="-101042" b="-5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8958" r="-1042" b="-5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6372300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98182" r="-500000" b="-40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0.2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0.8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9058468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1852" r="-500000" b="-3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0.1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0.9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33873984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01852" r="-500000" b="-2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0.7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0.3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03841180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94545" r="-500000" b="-1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1.0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447463"/>
                      </a:ext>
                    </a:extLst>
                  </a:tr>
                  <a:tr h="33035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03704" r="-500000" b="-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THE명품고딕R" panose="02020603020101020101" pitchFamily="18" charset="-127"/>
                              <a:ea typeface="THE명품고딕R" panose="02020603020101020101" pitchFamily="18" charset="-127"/>
                            </a:rPr>
                            <a:t>1.0</a:t>
                          </a:r>
                          <a:endParaRPr lang="ko-KR" altLang="en-US" sz="1200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THE명품고딕R" panose="02020603020101020101" pitchFamily="18" charset="-127"/>
                            <a:ea typeface="THE명품고딕R" panose="02020603020101020101" pitchFamily="18" charset="-127"/>
                          </a:endParaRP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66879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923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Markov Reward Process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03A9662-4D7B-7FF8-13EC-F7D551677458}"/>
                  </a:ext>
                </a:extLst>
              </p:cNvPr>
              <p:cNvSpPr/>
              <p:nvPr/>
            </p:nvSpPr>
            <p:spPr>
              <a:xfrm>
                <a:off x="7665143" y="1952955"/>
                <a:ext cx="3280904" cy="33537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Markov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Reward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Process]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MP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에 보상의 개념이 추가된 것이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MRP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𝑀𝑅𝑃</m:t>
                      </m:r>
                      <m:r>
                        <a:rPr lang="en-US" altLang="ko-KR" sz="11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ko-KR" altLang="en-US" sz="11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100" b="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보상함수 </a:t>
                </a:r>
                <a14:m>
                  <m:oMath xmlns:m="http://schemas.openxmlformats.org/officeDocument/2006/math"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 : </m:t>
                    </m:r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|"/>
                        <m:ctrlP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100" b="0" i="1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altLang="ko-KR" sz="11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1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100" b="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할인율 </a:t>
                </a:r>
                <a14:m>
                  <m:oMath xmlns:m="http://schemas.openxmlformats.org/officeDocument/2006/math"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: 0~1 </a:t>
                </a:r>
                <a:r>
                  <a:rPr lang="ko-KR" altLang="en-US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사이의 양수</a:t>
                </a:r>
                <a:endParaRPr lang="en-US" altLang="ko-KR" sz="1100" b="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[Return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시점부터 미래에 받을 할인된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(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감쇠된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보상의 합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𝑟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+1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+</m:t>
                      </m:r>
                      <m:r>
                        <a:rPr lang="ko-KR" altLang="en-US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𝛾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+2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+</m:t>
                      </m:r>
                      <m:sSup>
                        <m:sSupPr>
                          <m:ctrlP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pPr>
                        <m:e>
                          <m:r>
                            <a:rPr lang="ko-KR" altLang="en-US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+3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+ … </m:t>
                      </m:r>
                    </m:oMath>
                  </m:oMathPara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:endParaRPr lang="en-US" altLang="ko-KR" sz="1100" b="0" i="0" dirty="0">
                  <a:solidFill>
                    <a:schemeClr val="bg1">
                      <a:lumMod val="50000"/>
                    </a:schemeClr>
                  </a:solidFill>
                  <a:effectLst/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</p:txBody>
          </p:sp>
        </mc:Choice>
        <mc:Fallback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03A9662-4D7B-7FF8-13EC-F7D5516774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143" y="1952955"/>
                <a:ext cx="3280904" cy="33537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AE7E39B6-0FD6-67F4-588D-73D689AF9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07" y="2057978"/>
            <a:ext cx="4777301" cy="308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718F8F5-ED5E-CCDD-995C-B6A75F0C641E}"/>
                  </a:ext>
                </a:extLst>
              </p:cNvPr>
              <p:cNvSpPr/>
              <p:nvPr/>
            </p:nvSpPr>
            <p:spPr>
              <a:xfrm>
                <a:off x="5608130" y="6169485"/>
                <a:ext cx="6583870" cy="3128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100" b="0" i="0" dirty="0">
                    <a:solidFill>
                      <a:srgbClr val="FF898C"/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할인율 </a:t>
                </a:r>
                <a14:m>
                  <m:oMath xmlns:m="http://schemas.openxmlformats.org/officeDocument/2006/math">
                    <m:r>
                      <a:rPr lang="ko-KR" altLang="en-US" sz="1100" b="0" i="1" smtClean="0">
                        <a:solidFill>
                          <a:srgbClr val="FF898C"/>
                        </a:solidFill>
                        <a:effectLst/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𝛾</m:t>
                    </m:r>
                  </m:oMath>
                </a14:m>
                <a:r>
                  <a:rPr lang="en-US" altLang="ko-KR" sz="1100" b="0" i="0" dirty="0">
                    <a:solidFill>
                      <a:srgbClr val="FF898C"/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: </a:t>
                </a:r>
                <a:r>
                  <a:rPr lang="ko-KR" altLang="en-US" sz="1100" b="0" i="0" dirty="0">
                    <a:solidFill>
                      <a:srgbClr val="FF898C"/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미래에 얻을 보상에 비해 당장 얻는 보상을 얼마나 더 중요하게 여길 것인지 나타내는 파라미터</a:t>
                </a:r>
                <a:endParaRPr lang="en-US" altLang="ko-KR" sz="1100" b="0" i="0" dirty="0">
                  <a:solidFill>
                    <a:srgbClr val="FF898C"/>
                  </a:solidFill>
                  <a:effectLst/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</p:txBody>
          </p:sp>
        </mc:Choice>
        <mc:Fallback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718F8F5-ED5E-CCDD-995C-B6A75F0C6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130" y="6169485"/>
                <a:ext cx="6583870" cy="312843"/>
              </a:xfrm>
              <a:prstGeom prst="rect">
                <a:avLst/>
              </a:prstGeom>
              <a:blipFill>
                <a:blip r:embed="rId5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B96E28C8-42AE-5576-FE51-DF8BA2C81F0C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1B6665EA-094F-760F-17FC-FD84F2BF39A4}"/>
              </a:ext>
            </a:extLst>
          </p:cNvPr>
          <p:cNvSpPr/>
          <p:nvPr/>
        </p:nvSpPr>
        <p:spPr>
          <a:xfrm>
            <a:off x="-4298" y="1429518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7" name="자유형 23">
            <a:extLst>
              <a:ext uri="{FF2B5EF4-FFF2-40B4-BE49-F238E27FC236}">
                <a16:creationId xmlns:a16="http://schemas.microsoft.com/office/drawing/2014/main" id="{446F032D-B86D-5AD5-668A-C8F2A0A6C631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8984952C-E007-991C-FA5B-9312E12CAE31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1" name="Group 12">
            <a:extLst>
              <a:ext uri="{FF2B5EF4-FFF2-40B4-BE49-F238E27FC236}">
                <a16:creationId xmlns:a16="http://schemas.microsoft.com/office/drawing/2014/main" id="{6AD46662-7457-658F-8698-A9FB66CAB52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844763E-4C29-DDFA-C262-1CBC61DBE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2885C73A-50A7-CB16-1630-5FA50ACA2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5" name="Freeform 9">
            <a:extLst>
              <a:ext uri="{FF2B5EF4-FFF2-40B4-BE49-F238E27FC236}">
                <a16:creationId xmlns:a16="http://schemas.microsoft.com/office/drawing/2014/main" id="{73066283-7A32-EE3B-849F-987CD248A8AB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D1A451E-7568-B411-6C22-FBB04EA221D0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7" name="Freeform 36">
            <a:extLst>
              <a:ext uri="{FF2B5EF4-FFF2-40B4-BE49-F238E27FC236}">
                <a16:creationId xmlns:a16="http://schemas.microsoft.com/office/drawing/2014/main" id="{C5DED423-A6CE-8641-F1C4-ED6E047E4160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A7380D1-AC0E-DB2F-4597-44544C17F03A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875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Markov Reward Process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03A9662-4D7B-7FF8-13EC-F7D551677458}"/>
                  </a:ext>
                </a:extLst>
              </p:cNvPr>
              <p:cNvSpPr/>
              <p:nvPr/>
            </p:nvSpPr>
            <p:spPr>
              <a:xfrm>
                <a:off x="6821495" y="2304457"/>
                <a:ext cx="4726293" cy="2591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[Return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t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시점부터 미래에 받을 할인된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(</a:t>
                </a:r>
                <a:r>
                  <a:rPr lang="ko-KR" altLang="en-US" sz="1100" dirty="0" err="1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감쇠된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)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보상의 합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+1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+</m:t>
                      </m:r>
                      <m:r>
                        <a:rPr lang="ko-KR" altLang="en-US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𝛾</m:t>
                      </m:r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+2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+</m:t>
                      </m:r>
                      <m:sSup>
                        <m:sSupPr>
                          <m:ctrlP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pPr>
                        <m:e>
                          <m:r>
                            <a:rPr lang="ko-KR" altLang="en-US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sz="11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  <m:r>
                            <a:rPr lang="en-US" altLang="ko-KR" sz="11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+3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+ … </m:t>
                      </m:r>
                    </m:oMath>
                  </m:oMathPara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미래로 갈수록 가중치가 작아지는 현상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</a:t>
                </a:r>
                <a:endParaRPr lang="en-US" altLang="ko-KR" sz="1100" i="1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ea typeface="THE명품고딕R" panose="02020603020101020101" pitchFamily="18" charset="-127"/>
                  </a:rPr>
                  <a:t>&lt;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ea typeface="THE명품고딕R" panose="02020603020101020101" pitchFamily="18" charset="-127"/>
                  </a:rPr>
                  <a:t>수</a:t>
                </a:r>
                <a14:m>
                  <m:oMath xmlns:m="http://schemas.openxmlformats.org/officeDocument/2006/math"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학</m:t>
                    </m:r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적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 </m:t>
                    </m:r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편</m:t>
                    </m:r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의</m:t>
                    </m:r>
                    <m:r>
                      <a:rPr lang="ko-KR" altLang="en-US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성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&gt;</m:t>
                    </m:r>
                  </m:oMath>
                </a14:m>
                <a:endParaRPr lang="en-US" altLang="ko-KR" sz="1100" b="0" i="1" dirty="0">
                  <a:solidFill>
                    <a:schemeClr val="bg1">
                      <a:lumMod val="50000"/>
                    </a:schemeClr>
                  </a:solidFill>
                  <a:latin typeface="Cambria Math" panose="02040503050406030204" pitchFamily="18" charset="0"/>
                  <a:ea typeface="THE명품고딕R" panose="02020603020101020101" pitchFamily="18" charset="-127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1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𝛾</m:t>
                    </m:r>
                  </m:oMath>
                </a14:m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를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1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보다 작게 해줌으로써 리턴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𝐺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가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무한의 값을 갖는 것 방지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&lt;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선호 반영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&gt;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당장의 보상을 선호하는 경향 반영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&lt;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미래에 대한 불확실성 반영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&gt;</a:t>
                </a:r>
              </a:p>
            </p:txBody>
          </p:sp>
        </mc:Choice>
        <mc:Fallback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03A9662-4D7B-7FF8-13EC-F7D5516774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495" y="2304457"/>
                <a:ext cx="4726293" cy="2591992"/>
              </a:xfrm>
              <a:prstGeom prst="rect">
                <a:avLst/>
              </a:prstGeom>
              <a:blipFill>
                <a:blip r:embed="rId3"/>
                <a:stretch>
                  <a:fillRect b="-7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AE7E39B6-0FD6-67F4-588D-73D689AF9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07" y="2057978"/>
            <a:ext cx="4777301" cy="308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718F8F5-ED5E-CCDD-995C-B6A75F0C641E}"/>
                  </a:ext>
                </a:extLst>
              </p:cNvPr>
              <p:cNvSpPr/>
              <p:nvPr/>
            </p:nvSpPr>
            <p:spPr>
              <a:xfrm>
                <a:off x="5608130" y="6169485"/>
                <a:ext cx="6583870" cy="3128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100" b="0" i="0" dirty="0">
                    <a:solidFill>
                      <a:srgbClr val="FF898C"/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할인율 </a:t>
                </a:r>
                <a14:m>
                  <m:oMath xmlns:m="http://schemas.openxmlformats.org/officeDocument/2006/math">
                    <m:r>
                      <a:rPr lang="ko-KR" altLang="en-US" sz="1100" b="0" i="1" smtClean="0">
                        <a:solidFill>
                          <a:srgbClr val="FF898C"/>
                        </a:solidFill>
                        <a:effectLst/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𝛾</m:t>
                    </m:r>
                  </m:oMath>
                </a14:m>
                <a:r>
                  <a:rPr lang="en-US" altLang="ko-KR" sz="1100" b="0" i="0" dirty="0">
                    <a:solidFill>
                      <a:srgbClr val="FF898C"/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: </a:t>
                </a:r>
                <a:r>
                  <a:rPr lang="ko-KR" altLang="en-US" sz="1100" b="0" i="0" dirty="0">
                    <a:solidFill>
                      <a:srgbClr val="FF898C"/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미래에 얻을 보상에 비해 당장 얻는 보상을 얼마나 더 중요하게 여길 것인지 나타내는 파라미터</a:t>
                </a:r>
                <a:endParaRPr lang="en-US" altLang="ko-KR" sz="1100" b="0" i="0" dirty="0">
                  <a:solidFill>
                    <a:srgbClr val="FF898C"/>
                  </a:solidFill>
                  <a:effectLst/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</p:txBody>
          </p:sp>
        </mc:Choice>
        <mc:Fallback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718F8F5-ED5E-CCDD-995C-B6A75F0C6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130" y="6169485"/>
                <a:ext cx="6583870" cy="312843"/>
              </a:xfrm>
              <a:prstGeom prst="rect">
                <a:avLst/>
              </a:prstGeom>
              <a:blipFill>
                <a:blip r:embed="rId5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사각형: 둥근 위쪽 모서리 2">
            <a:extLst>
              <a:ext uri="{FF2B5EF4-FFF2-40B4-BE49-F238E27FC236}">
                <a16:creationId xmlns:a16="http://schemas.microsoft.com/office/drawing/2014/main" id="{6DD8C0F1-1A26-7C87-478A-E5E910A11769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686E913E-C4B7-0F14-21C0-4AF8F91FFC4A}"/>
              </a:ext>
            </a:extLst>
          </p:cNvPr>
          <p:cNvSpPr/>
          <p:nvPr/>
        </p:nvSpPr>
        <p:spPr>
          <a:xfrm>
            <a:off x="-4298" y="1429518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자유형 23">
            <a:extLst>
              <a:ext uri="{FF2B5EF4-FFF2-40B4-BE49-F238E27FC236}">
                <a16:creationId xmlns:a16="http://schemas.microsoft.com/office/drawing/2014/main" id="{05FB7322-7300-E006-BAFD-E3D438023F0E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6A6DB1D-0C92-BDD4-48B8-97B2C21DADAB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0B68BB6-C8DF-9215-0F59-098CFB096F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3BDBE18-41AB-A79E-CDDA-46C8B3E1B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1836752D-7016-C65D-6AC8-B2583319BA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8" name="Freeform 9">
            <a:extLst>
              <a:ext uri="{FF2B5EF4-FFF2-40B4-BE49-F238E27FC236}">
                <a16:creationId xmlns:a16="http://schemas.microsoft.com/office/drawing/2014/main" id="{B6876AD8-84F8-294A-093B-7A982C33E631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B308815-9E0A-AD49-BE14-6004C36D7DA0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A69A610A-7EA8-DBE7-E20D-5101CB722400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F91F187-86D9-21F9-1BA5-34FADCE56CF2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866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Markov Decision Process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03A9662-4D7B-7FF8-13EC-F7D551677458}"/>
                  </a:ext>
                </a:extLst>
              </p:cNvPr>
              <p:cNvSpPr/>
              <p:nvPr/>
            </p:nvSpPr>
            <p:spPr>
              <a:xfrm>
                <a:off x="7505595" y="2592955"/>
                <a:ext cx="3600000" cy="23380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100" b="0" i="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[Markov Decision Process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MRP 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에서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Decision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이 추가된 것이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MDP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상태가 변하는 과정에 의사가 개입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에이전트의 행동인 액션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(action)</a:t>
                </a: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이 존재</a:t>
                </a: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𝑀𝐷𝑃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 ≡(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𝑆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, 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𝐴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, 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𝑃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, 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𝑅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, </m:t>
                      </m:r>
                      <m:r>
                        <a:rPr lang="ko-KR" altLang="en-US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𝛾</m:t>
                      </m:r>
                      <m:r>
                        <a:rPr lang="en-US" altLang="ko-KR" sz="11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)</m:t>
                      </m:r>
                    </m:oMath>
                  </m:oMathPara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액션들의 집합 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: A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상태 변환 확률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𝑠𝑠</m:t>
                        </m:r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′</m:t>
                        </m:r>
                      </m:sub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𝑎</m:t>
                        </m:r>
                      </m:sup>
                    </m:sSubSup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 :</m:t>
                    </m:r>
                    <m:sSubSup>
                      <m:sSubSup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𝑠𝑠</m:t>
                        </m:r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′</m:t>
                        </m:r>
                      </m:sub>
                      <m:sup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𝑎</m:t>
                        </m:r>
                      </m:sup>
                    </m:sSubSup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𝑃</m:t>
                    </m:r>
                    <m:d>
                      <m:dPr>
                        <m:begChr m:val="["/>
                        <m:endChr m:val="|"/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  <m:t>𝑡</m:t>
                            </m:r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=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 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𝑠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𝐴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𝑎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]</m:t>
                    </m:r>
                  </m:oMath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1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보상 함수</a:t>
                </a:r>
                <a:r>
                  <a:rPr lang="en-US" altLang="ko-KR" sz="1100" dirty="0">
                    <a:solidFill>
                      <a:schemeClr val="bg1">
                        <a:lumMod val="50000"/>
                      </a:schemeClr>
                    </a:solidFill>
                    <a:ea typeface="THE명품고딕R" panose="02020603020101020101" pitchFamily="18" charset="-127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10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𝑠</m:t>
                        </m:r>
                      </m:sub>
                      <m:sup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𝑎</m:t>
                        </m:r>
                      </m:sup>
                    </m:sSubSup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 :</m:t>
                    </m:r>
                    <m:sSubSup>
                      <m:sSubSup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𝑅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𝑠</m:t>
                        </m:r>
                      </m:sub>
                      <m:sup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𝑎</m:t>
                        </m:r>
                      </m:sup>
                    </m:sSubSup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𝐸</m:t>
                    </m:r>
                    <m:d>
                      <m:dPr>
                        <m:begChr m:val="["/>
                        <m:endChr m:val="|"/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  <m:t>𝑡</m:t>
                            </m:r>
                            <m:r>
                              <a:rPr lang="en-US" altLang="ko-KR" sz="1100" i="1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THE명품고딕R" panose="02020603020101020101" pitchFamily="18" charset="-127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ko-KR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𝑆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𝑡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=</m:t>
                    </m:r>
                    <m:r>
                      <a:rPr lang="en-US" altLang="ko-KR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𝑠</m:t>
                    </m:r>
                    <m:r>
                      <a:rPr lang="en-US" altLang="ko-KR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, </m:t>
                    </m:r>
                    <m:sSub>
                      <m:sSubPr>
                        <m:ctrlP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</m:ctrlPr>
                      </m:sSubPr>
                      <m:e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𝐴</m:t>
                        </m:r>
                      </m:e>
                      <m:sub>
                        <m:r>
                          <a:rPr lang="en-US" altLang="ko-KR" sz="11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THE명품고딕R" panose="02020603020101020101" pitchFamily="18" charset="-127"/>
                          </a:rPr>
                          <m:t>𝑡</m:t>
                        </m:r>
                      </m:sub>
                    </m:sSub>
                    <m:r>
                      <a:rPr lang="en-US" altLang="ko-KR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=</m:t>
                    </m:r>
                    <m:r>
                      <a:rPr lang="en-US" altLang="ko-KR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𝑎</m:t>
                    </m:r>
                    <m:r>
                      <a:rPr lang="en-US" altLang="ko-KR" sz="11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THE명품고딕R" panose="02020603020101020101" pitchFamily="18" charset="-127"/>
                      </a:rPr>
                      <m:t>]</m:t>
                    </m:r>
                  </m:oMath>
                </a14:m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1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</p:txBody>
          </p:sp>
        </mc:Choice>
        <mc:Fallback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03A9662-4D7B-7FF8-13EC-F7D5516774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595" y="2592955"/>
                <a:ext cx="3600000" cy="23380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5134EC2-9921-A4DD-B5A6-C2CDB71F1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727" y="2675349"/>
            <a:ext cx="4607968" cy="2173288"/>
          </a:xfrm>
          <a:prstGeom prst="rect">
            <a:avLst/>
          </a:prstGeom>
        </p:spPr>
      </p:pic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45B0769C-40AA-5617-8CBF-CC81BC6D62DC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6984EC05-DF82-0C41-A53A-4B2A5AB87AFC}"/>
              </a:ext>
            </a:extLst>
          </p:cNvPr>
          <p:cNvSpPr/>
          <p:nvPr/>
        </p:nvSpPr>
        <p:spPr>
          <a:xfrm>
            <a:off x="-4298" y="208788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자유형 23">
            <a:extLst>
              <a:ext uri="{FF2B5EF4-FFF2-40B4-BE49-F238E27FC236}">
                <a16:creationId xmlns:a16="http://schemas.microsoft.com/office/drawing/2014/main" id="{51350F45-5EDA-DF16-9637-269C594310DF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CD74E20D-6BA3-B278-BE3E-97EB12A56E91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E19FA1-F608-3A72-7BDC-BE0FD21D04A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B3D51B83-5C8B-A3F3-ADAC-BA85BC9E6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1AD1D141-3AD6-EFF5-4CDE-BCAAE79E0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B76A8E18-377C-DAE2-6EBE-F093B4B99A57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3402CBE-9451-3A19-9200-0E55BEB91FDD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854F9A6D-972C-374D-1467-9764451892E4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EF5D79F4-F419-0AD2-E79B-CFFBA63CC9A8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073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Markov Decision Process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03A9662-4D7B-7FF8-13EC-F7D551677458}"/>
                  </a:ext>
                </a:extLst>
              </p:cNvPr>
              <p:cNvSpPr/>
              <p:nvPr/>
            </p:nvSpPr>
            <p:spPr>
              <a:xfrm>
                <a:off x="7505595" y="2592955"/>
                <a:ext cx="3600000" cy="23380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</a:t>
                </a:r>
                <a:r>
                  <a:rPr lang="ko-KR" altLang="en-US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주요 성질</a:t>
                </a:r>
                <a:r>
                  <a:rPr lang="en-US" altLang="ko-KR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</a:t>
                </a:r>
                <a:endParaRPr lang="en-US" altLang="ko-KR" sz="1100" b="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: Policy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11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1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1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1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1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1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</a:t>
                </a:r>
                <a:r>
                  <a:rPr lang="ko-KR" altLang="en-US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강화학습의 최종 목표</a:t>
                </a:r>
                <a:r>
                  <a:rPr lang="en-US" altLang="ko-KR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Maximize Reward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= Maximize Return = Maximize Expected Return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ko-KR" altLang="en-US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</a:t>
                </a:r>
                <a:r>
                  <a:rPr lang="en-US" altLang="ko-KR" sz="11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+ …</a:t>
                </a:r>
                <a:endParaRPr lang="ko-KR" altLang="en-US" sz="11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1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</p:txBody>
          </p:sp>
        </mc:Choice>
        <mc:Fallback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903A9662-4D7B-7FF8-13EC-F7D5516774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595" y="2592955"/>
                <a:ext cx="3600000" cy="23380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C5134EC2-9921-A4DD-B5A6-C2CDB71F1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727" y="2675349"/>
            <a:ext cx="4607968" cy="2173288"/>
          </a:xfrm>
          <a:prstGeom prst="rect">
            <a:avLst/>
          </a:prstGeom>
        </p:spPr>
      </p:pic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D11C071F-3295-7DDB-4C6E-DD809C59B112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40486ECB-D4A9-98FA-0FD1-F7D713C396A7}"/>
              </a:ext>
            </a:extLst>
          </p:cNvPr>
          <p:cNvSpPr/>
          <p:nvPr/>
        </p:nvSpPr>
        <p:spPr>
          <a:xfrm>
            <a:off x="-4298" y="2087886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자유형 23">
            <a:extLst>
              <a:ext uri="{FF2B5EF4-FFF2-40B4-BE49-F238E27FC236}">
                <a16:creationId xmlns:a16="http://schemas.microsoft.com/office/drawing/2014/main" id="{73BF9099-0CC5-6988-0E58-F287BD790B55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1A4C8764-E9F0-CE24-1D96-A612477E7B9E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1554844-86AF-1653-7D2E-70CF943F133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E919365-048B-386F-5349-5B9C23CE9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63A0779E-70E8-D644-4147-85576E991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8" name="Freeform 9">
            <a:extLst>
              <a:ext uri="{FF2B5EF4-FFF2-40B4-BE49-F238E27FC236}">
                <a16:creationId xmlns:a16="http://schemas.microsoft.com/office/drawing/2014/main" id="{165AAD87-459C-09AE-4E18-51D9506D0BD4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4451806-389D-062C-BFD0-5934C35EDCC5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C5E37FEB-97FA-8E59-0448-3EA9170EFC59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CCAB06C-0E94-CF60-47BF-2A70B0F82D6E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038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Summary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E4FC6340-5A93-BAD0-BFEE-B4D4F5B8D900}"/>
                  </a:ext>
                </a:extLst>
              </p:cNvPr>
              <p:cNvSpPr/>
              <p:nvPr/>
            </p:nvSpPr>
            <p:spPr>
              <a:xfrm>
                <a:off x="3911494" y="1395495"/>
                <a:ext cx="5816706" cy="52055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</a:t>
                </a: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상태 변환 확률</a:t>
                </a: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 State Transition Probability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𝑠𝑠</m:t>
                          </m:r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′</m:t>
                          </m:r>
                        </m:sub>
                        <m:sup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𝑎</m:t>
                          </m:r>
                        </m:sup>
                      </m:sSubSup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 :</m:t>
                      </m:r>
                      <m:sSubSup>
                        <m:sSubSupPr>
                          <m:ctrlP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𝑠𝑠</m:t>
                          </m:r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′</m:t>
                          </m:r>
                        </m:sub>
                        <m:sup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𝑎</m:t>
                          </m:r>
                        </m:sup>
                      </m:sSubSup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𝑃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  <m:t>𝑡</m:t>
                              </m:r>
                              <m:r>
                                <a:rPr lang="en-US" altLang="ko-K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ko-K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 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𝑠</m:t>
                      </m:r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𝑎</m:t>
                      </m:r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en-US" altLang="ko-KR" sz="16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</a:t>
                </a: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정책</a:t>
                </a: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 Policy</a:t>
                </a:r>
                <a:endParaRPr lang="en-US" altLang="ko-KR" sz="1600" b="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</a:t>
                </a:r>
                <a:r>
                  <a:rPr lang="ko-KR" altLang="en-US" sz="16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보상 함수</a:t>
                </a:r>
                <a:r>
                  <a:rPr lang="en-US" altLang="ko-KR" sz="1600" dirty="0">
                    <a:solidFill>
                      <a:schemeClr val="bg1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 Reward</a:t>
                </a:r>
                <a:endParaRPr lang="en-US" altLang="ko-KR" sz="1600" dirty="0">
                  <a:solidFill>
                    <a:schemeClr val="bg1">
                      <a:lumMod val="50000"/>
                    </a:schemeClr>
                  </a:solidFill>
                  <a:ea typeface="THE명품고딕R" panose="02020603020101020101" pitchFamily="18" charset="-127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𝑎</m:t>
                          </m:r>
                        </m:sup>
                      </m:sSubSup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 :</m:t>
                      </m:r>
                      <m:sSubSup>
                        <m:sSubSupPr>
                          <m:ctrlP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𝑠</m:t>
                          </m:r>
                        </m:sub>
                        <m:sup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𝑎</m:t>
                          </m:r>
                        </m:sup>
                      </m:sSubSup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𝐸</m:t>
                      </m:r>
                      <m:d>
                        <m:dPr>
                          <m:begChr m:val="["/>
                          <m:endChr m:val="|"/>
                          <m:ctrlP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  <m:t>𝑡</m:t>
                              </m:r>
                              <m:r>
                                <a:rPr lang="en-US" altLang="ko-KR" sz="1600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THE명품고딕R" panose="02020603020101020101" pitchFamily="18" charset="-127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ko-KR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 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=</m:t>
                      </m:r>
                      <m:r>
                        <a:rPr lang="en-US" altLang="ko-KR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𝑠</m:t>
                      </m:r>
                      <m:r>
                        <a:rPr lang="en-US" altLang="ko-KR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, </m:t>
                      </m:r>
                      <m:sSub>
                        <m:sSubPr>
                          <m:ctrlP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THE명품고딕R" panose="02020603020101020101" pitchFamily="18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=</m:t>
                      </m:r>
                      <m:r>
                        <a:rPr lang="en-US" altLang="ko-KR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𝑎</m:t>
                      </m:r>
                      <m:r>
                        <a:rPr lang="en-US" altLang="ko-KR" sz="1600" i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THE명품고딕R" panose="02020603020101020101" pitchFamily="18" charset="-127"/>
                        </a:rPr>
                        <m:t>]</m:t>
                      </m:r>
                    </m:oMath>
                  </m:oMathPara>
                </a14:m>
                <a:endParaRPr lang="en-US" altLang="ko-KR" sz="1600" dirty="0">
                  <a:solidFill>
                    <a:schemeClr val="bg1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[</a:t>
                </a:r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강화학습의 최종 목표</a:t>
                </a: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Maximize Reward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= Maximize Return = Maximize Expected Return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ko-KR" altLang="en-US" sz="1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6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ko-KR" altLang="en-US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 </a:t>
                </a:r>
                <a:r>
                  <a:rPr lang="en-US" altLang="ko-KR" sz="1600" dirty="0">
                    <a:solidFill>
                      <a:schemeClr val="bg2">
                        <a:lumMod val="50000"/>
                      </a:schemeClr>
                    </a:solidFill>
                    <a:latin typeface="THE명품고딕R" panose="02020603020101020101" pitchFamily="18" charset="-127"/>
                    <a:ea typeface="THE명품고딕R" panose="02020603020101020101" pitchFamily="18" charset="-127"/>
                  </a:rPr>
                  <a:t>+ …</a:t>
                </a:r>
                <a:endParaRPr lang="ko-KR" altLang="en-US" sz="16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solidFill>
                    <a:schemeClr val="bg2">
                      <a:lumMod val="50000"/>
                    </a:schemeClr>
                  </a:solidFill>
                  <a:latin typeface="THE명품고딕R" panose="02020603020101020101" pitchFamily="18" charset="-127"/>
                  <a:ea typeface="THE명품고딕R" panose="02020603020101020101" pitchFamily="18" charset="-127"/>
                </a:endParaRPr>
              </a:p>
            </p:txBody>
          </p:sp>
        </mc:Choice>
        <mc:Fallback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E4FC6340-5A93-BAD0-BFEE-B4D4F5B8D9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494" y="1395495"/>
                <a:ext cx="5816706" cy="5205592"/>
              </a:xfrm>
              <a:prstGeom prst="rect">
                <a:avLst/>
              </a:prstGeom>
              <a:blipFill>
                <a:blip r:embed="rId3"/>
                <a:stretch>
                  <a:fillRect l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2439FF02-0F87-0A22-72A3-BD66F6AF55AE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1B25EDD-ACAD-8A6D-27D1-039C4D0B1F39}"/>
              </a:ext>
            </a:extLst>
          </p:cNvPr>
          <p:cNvSpPr/>
          <p:nvPr/>
        </p:nvSpPr>
        <p:spPr>
          <a:xfrm>
            <a:off x="-4298" y="2838292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자유형 23">
            <a:extLst>
              <a:ext uri="{FF2B5EF4-FFF2-40B4-BE49-F238E27FC236}">
                <a16:creationId xmlns:a16="http://schemas.microsoft.com/office/drawing/2014/main" id="{F9A26E59-8FD2-E040-F0A4-18DDEE378D7F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960C9BE4-9333-6913-B878-2826891053EF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9F88E4-A56C-5EA5-0276-2C0AEEE32E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7B8D716-3E24-1132-DA8C-8AE04D5B5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C368A870-929B-C8F5-D51C-CFC67709A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CC2B400B-54F1-27C5-7B0A-E2D0C15AD75C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085247B-B89F-ABB9-ABB6-29354E2516CE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38E0F06-1F03-A762-5F03-2737DE1000AF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305E40D-20BF-5B6A-C811-A2930EC2B95A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01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Summary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3A9662-4D7B-7FF8-13EC-F7D551677458}"/>
              </a:ext>
            </a:extLst>
          </p:cNvPr>
          <p:cNvSpPr/>
          <p:nvPr/>
        </p:nvSpPr>
        <p:spPr>
          <a:xfrm>
            <a:off x="2008907" y="2883449"/>
            <a:ext cx="8779188" cy="1142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상태 변환 확률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(State Transition Probability)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은 행동의 결과를 결정하는 확률 값이며 환경변수</a:t>
            </a:r>
            <a:endParaRPr lang="en-US" altLang="ko-KR" sz="1600" dirty="0">
              <a:solidFill>
                <a:schemeClr val="bg2">
                  <a:lumMod val="50000"/>
                </a:schemeClr>
              </a:solidFill>
              <a:latin typeface="THE명품고딕R" panose="02020603020101020101" pitchFamily="18" charset="-127"/>
              <a:ea typeface="THE명품고딕R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600" dirty="0">
              <a:solidFill>
                <a:schemeClr val="bg2">
                  <a:lumMod val="50000"/>
                </a:schemeClr>
              </a:solidFill>
              <a:latin typeface="THE명품고딕R" panose="02020603020101020101" pitchFamily="18" charset="-127"/>
              <a:ea typeface="THE명품고딕R" panose="0202060302010102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정책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(Policy)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은 행동을 결정하는 확률 값이며 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Agent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가 조정 가능한 변수</a:t>
            </a:r>
            <a:endParaRPr lang="en-US" altLang="ko-KR" sz="1600" dirty="0">
              <a:solidFill>
                <a:schemeClr val="bg2">
                  <a:lumMod val="50000"/>
                </a:schemeClr>
              </a:solidFill>
              <a:latin typeface="THE명품고딕R" panose="02020603020101020101" pitchFamily="18" charset="-127"/>
              <a:ea typeface="THE명품고딕R" panose="02020603020101020101" pitchFamily="18" charset="-127"/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2439FF02-0F87-0A22-72A3-BD66F6AF55AE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1B25EDD-ACAD-8A6D-27D1-039C4D0B1F39}"/>
              </a:ext>
            </a:extLst>
          </p:cNvPr>
          <p:cNvSpPr/>
          <p:nvPr/>
        </p:nvSpPr>
        <p:spPr>
          <a:xfrm>
            <a:off x="-4298" y="2838292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자유형 23">
            <a:extLst>
              <a:ext uri="{FF2B5EF4-FFF2-40B4-BE49-F238E27FC236}">
                <a16:creationId xmlns:a16="http://schemas.microsoft.com/office/drawing/2014/main" id="{F9A26E59-8FD2-E040-F0A4-18DDEE378D7F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960C9BE4-9333-6913-B878-2826891053EF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9F88E4-A56C-5EA5-0276-2C0AEEE32E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7B8D716-3E24-1132-DA8C-8AE04D5B5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C368A870-929B-C8F5-D51C-CFC67709A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CC2B400B-54F1-27C5-7B0A-E2D0C15AD75C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085247B-B89F-ABB9-ABB6-29354E2516CE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38E0F06-1F03-A762-5F03-2737DE1000AF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305E40D-20BF-5B6A-C811-A2930EC2B95A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F51811-5C66-7272-C096-0C7655516DE2}"/>
              </a:ext>
            </a:extLst>
          </p:cNvPr>
          <p:cNvSpPr/>
          <p:nvPr/>
        </p:nvSpPr>
        <p:spPr>
          <a:xfrm>
            <a:off x="2875209" y="5770234"/>
            <a:ext cx="8779188" cy="560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Agent </a:t>
            </a:r>
            <a:r>
              <a:rPr lang="ko-KR" altLang="en-US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변수 </a:t>
            </a:r>
            <a:r>
              <a:rPr lang="en-US" altLang="ko-KR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: Agent</a:t>
            </a:r>
            <a:r>
              <a:rPr lang="ko-KR" altLang="en-US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가 조정 가능한 변수</a:t>
            </a:r>
            <a:endParaRPr lang="en-US" altLang="ko-KR" sz="1100" dirty="0">
              <a:solidFill>
                <a:srgbClr val="FF898C"/>
              </a:solidFill>
              <a:latin typeface="THE명품고딕R" panose="02020603020101020101" pitchFamily="18" charset="-127"/>
              <a:ea typeface="THE명품고딕R" panose="02020603020101020101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환경변수 </a:t>
            </a:r>
            <a:r>
              <a:rPr lang="en-US" altLang="ko-KR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: Agent </a:t>
            </a:r>
            <a:r>
              <a:rPr lang="ko-KR" altLang="en-US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외부에 존재하며 </a:t>
            </a:r>
            <a:r>
              <a:rPr lang="en-US" altLang="ko-KR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Agent</a:t>
            </a:r>
            <a:r>
              <a:rPr lang="ko-KR" altLang="en-US" sz="1100" dirty="0">
                <a:solidFill>
                  <a:srgbClr val="FF898C"/>
                </a:solidFill>
                <a:latin typeface="THE명품고딕R" panose="02020603020101020101" pitchFamily="18" charset="-127"/>
                <a:ea typeface="THE명품고딕R" panose="02020603020101020101" pitchFamily="18" charset="-127"/>
              </a:rPr>
              <a:t>가 조정 불가한 변수</a:t>
            </a:r>
            <a:endParaRPr lang="en-US" altLang="ko-KR" sz="1100" dirty="0">
              <a:solidFill>
                <a:srgbClr val="FF898C"/>
              </a:solidFill>
              <a:latin typeface="THE명품고딕R" panose="02020603020101020101" pitchFamily="18" charset="-127"/>
              <a:ea typeface="THE명품고딕R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7495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478F709E-B4D4-A00C-B207-AE513399CBDA}"/>
              </a:ext>
            </a:extLst>
          </p:cNvPr>
          <p:cNvGrpSpPr/>
          <p:nvPr/>
        </p:nvGrpSpPr>
        <p:grpSpPr>
          <a:xfrm>
            <a:off x="11390756" y="274517"/>
            <a:ext cx="630239" cy="513035"/>
            <a:chOff x="11390756" y="219653"/>
            <a:chExt cx="630239" cy="513035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F326E81-B007-1BF0-9FDB-1876BD7D34AB}"/>
                </a:ext>
              </a:extLst>
            </p:cNvPr>
            <p:cNvGrpSpPr/>
            <p:nvPr/>
          </p:nvGrpSpPr>
          <p:grpSpPr>
            <a:xfrm>
              <a:off x="11547788" y="219653"/>
              <a:ext cx="323769" cy="323769"/>
              <a:chOff x="1593332" y="2172798"/>
              <a:chExt cx="1083168" cy="1083168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4BD8E751-632A-E5D2-5EE3-2637F11FC536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3B49FC5-2536-B76D-07AE-8FBCC073A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5359FBA-C417-AC2E-35F7-AF34CEA2C905}"/>
                </a:ext>
              </a:extLst>
            </p:cNvPr>
            <p:cNvSpPr/>
            <p:nvPr/>
          </p:nvSpPr>
          <p:spPr>
            <a:xfrm>
              <a:off x="11390756" y="548022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ko-KR" sz="600" dirty="0" err="1">
                  <a:solidFill>
                    <a:srgbClr val="757DBA"/>
                  </a:solidFill>
                </a:rPr>
                <a:t>hyuna</a:t>
              </a:r>
              <a:endParaRPr lang="ko-KR" altLang="en-US" sz="600" dirty="0">
                <a:solidFill>
                  <a:srgbClr val="757DBA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208E92C2-0B62-FF09-E068-C95F861C4B6F}"/>
              </a:ext>
            </a:extLst>
          </p:cNvPr>
          <p:cNvSpPr txBox="1"/>
          <p:nvPr/>
        </p:nvSpPr>
        <p:spPr>
          <a:xfrm>
            <a:off x="1168803" y="2569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i="1" kern="0" dirty="0">
                <a:ln w="9525">
                  <a:noFill/>
                </a:ln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Summary</a:t>
            </a:r>
            <a:endParaRPr lang="ko-KR" altLang="en-US" sz="2000" dirty="0">
              <a:solidFill>
                <a:prstClr val="white">
                  <a:lumMod val="75000"/>
                </a:prst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96182547-442E-0C45-4F97-9CF7CB89711C}"/>
              </a:ext>
            </a:extLst>
          </p:cNvPr>
          <p:cNvCxnSpPr>
            <a:cxnSpLocks/>
          </p:cNvCxnSpPr>
          <p:nvPr/>
        </p:nvCxnSpPr>
        <p:spPr>
          <a:xfrm>
            <a:off x="7505595" y="527100"/>
            <a:ext cx="3600000" cy="0"/>
          </a:xfrm>
          <a:prstGeom prst="line">
            <a:avLst/>
          </a:prstGeom>
          <a:ln>
            <a:solidFill>
              <a:srgbClr val="6383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3A9662-4D7B-7FF8-13EC-F7D551677458}"/>
              </a:ext>
            </a:extLst>
          </p:cNvPr>
          <p:cNvSpPr/>
          <p:nvPr/>
        </p:nvSpPr>
        <p:spPr>
          <a:xfrm>
            <a:off x="1958107" y="3015677"/>
            <a:ext cx="877918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i="1" dirty="0"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MDP</a:t>
            </a:r>
          </a:p>
          <a:p>
            <a:pPr algn="ctr">
              <a:lnSpc>
                <a:spcPct val="150000"/>
              </a:lnSpc>
            </a:pPr>
            <a:r>
              <a:rPr lang="ko-KR" altLang="en-US" sz="1600" i="1" dirty="0"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어떠한 상태에서 다음 상태로 가기 위해 보상 최대화라는 목표를 고려하여</a:t>
            </a:r>
            <a:endParaRPr lang="en-US" altLang="ko-KR" sz="1600" i="1" dirty="0">
              <a:solidFill>
                <a:srgbClr val="6383EC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i="1" dirty="0">
                <a:solidFill>
                  <a:srgbClr val="6383EC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행동을 선택해 나가는 과정</a:t>
            </a:r>
            <a:endParaRPr lang="en-US" altLang="ko-KR" sz="1600" i="1" dirty="0">
              <a:solidFill>
                <a:srgbClr val="6383EC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2439FF02-0F87-0A22-72A3-BD66F6AF55AE}"/>
              </a:ext>
            </a:extLst>
          </p:cNvPr>
          <p:cNvSpPr/>
          <p:nvPr/>
        </p:nvSpPr>
        <p:spPr>
          <a:xfrm rot="5400000">
            <a:off x="-1234448" y="1477801"/>
            <a:ext cx="3352802" cy="892501"/>
          </a:xfrm>
          <a:prstGeom prst="round2SameRect">
            <a:avLst>
              <a:gd name="adj1" fmla="val 30434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88900" dist="38100" algn="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91B25EDD-ACAD-8A6D-27D1-039C4D0B1F39}"/>
              </a:ext>
            </a:extLst>
          </p:cNvPr>
          <p:cNvSpPr/>
          <p:nvPr/>
        </p:nvSpPr>
        <p:spPr>
          <a:xfrm>
            <a:off x="-4298" y="2838292"/>
            <a:ext cx="892502" cy="1042519"/>
          </a:xfrm>
          <a:custGeom>
            <a:avLst/>
            <a:gdLst>
              <a:gd name="connsiteX0" fmla="*/ 0 w 892502"/>
              <a:gd name="connsiteY0" fmla="*/ 1031750 h 1042519"/>
              <a:gd name="connsiteX1" fmla="*/ 986 w 892502"/>
              <a:gd name="connsiteY1" fmla="*/ 1041533 h 1042519"/>
              <a:gd name="connsiteX2" fmla="*/ 0 w 892502"/>
              <a:gd name="connsiteY2" fmla="*/ 1042519 h 1042519"/>
              <a:gd name="connsiteX3" fmla="*/ 1 w 892502"/>
              <a:gd name="connsiteY3" fmla="*/ 10769 h 1042519"/>
              <a:gd name="connsiteX4" fmla="*/ 202264 w 892502"/>
              <a:gd name="connsiteY4" fmla="*/ 258938 h 1042519"/>
              <a:gd name="connsiteX5" fmla="*/ 253306 w 892502"/>
              <a:gd name="connsiteY5" fmla="*/ 264083 h 1042519"/>
              <a:gd name="connsiteX6" fmla="*/ 253326 w 892502"/>
              <a:gd name="connsiteY6" fmla="*/ 264083 h 1042519"/>
              <a:gd name="connsiteX7" fmla="*/ 263099 w 892502"/>
              <a:gd name="connsiteY7" fmla="*/ 263098 h 1042519"/>
              <a:gd name="connsiteX8" fmla="*/ 264084 w 892502"/>
              <a:gd name="connsiteY8" fmla="*/ 264083 h 1042519"/>
              <a:gd name="connsiteX9" fmla="*/ 635325 w 892502"/>
              <a:gd name="connsiteY9" fmla="*/ 264083 h 1042519"/>
              <a:gd name="connsiteX10" fmla="*/ 892502 w 892502"/>
              <a:gd name="connsiteY10" fmla="*/ 521260 h 1042519"/>
              <a:gd name="connsiteX11" fmla="*/ 635325 w 892502"/>
              <a:gd name="connsiteY11" fmla="*/ 778437 h 1042519"/>
              <a:gd name="connsiteX12" fmla="*/ 264083 w 892502"/>
              <a:gd name="connsiteY12" fmla="*/ 778437 h 1042519"/>
              <a:gd name="connsiteX13" fmla="*/ 263098 w 892502"/>
              <a:gd name="connsiteY13" fmla="*/ 779421 h 1042519"/>
              <a:gd name="connsiteX14" fmla="*/ 253329 w 892502"/>
              <a:gd name="connsiteY14" fmla="*/ 778437 h 1042519"/>
              <a:gd name="connsiteX15" fmla="*/ 253301 w 892502"/>
              <a:gd name="connsiteY15" fmla="*/ 778437 h 1042519"/>
              <a:gd name="connsiteX16" fmla="*/ 202263 w 892502"/>
              <a:gd name="connsiteY16" fmla="*/ 783581 h 1042519"/>
              <a:gd name="connsiteX17" fmla="*/ 0 w 892502"/>
              <a:gd name="connsiteY17" fmla="*/ 1031750 h 1042519"/>
              <a:gd name="connsiteX18" fmla="*/ 0 w 892502"/>
              <a:gd name="connsiteY18" fmla="*/ 778436 h 1042519"/>
              <a:gd name="connsiteX19" fmla="*/ 1 w 892502"/>
              <a:gd name="connsiteY19" fmla="*/ 778436 h 1042519"/>
              <a:gd name="connsiteX20" fmla="*/ 1 w 892502"/>
              <a:gd name="connsiteY20" fmla="*/ 264083 h 1042519"/>
              <a:gd name="connsiteX21" fmla="*/ 1 w 892502"/>
              <a:gd name="connsiteY21" fmla="*/ 0 h 1042519"/>
              <a:gd name="connsiteX22" fmla="*/ 987 w 892502"/>
              <a:gd name="connsiteY22" fmla="*/ 986 h 1042519"/>
              <a:gd name="connsiteX23" fmla="*/ 1 w 892502"/>
              <a:gd name="connsiteY23" fmla="*/ 10769 h 1042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92502" h="1042519">
                <a:moveTo>
                  <a:pt x="0" y="1031750"/>
                </a:moveTo>
                <a:lnTo>
                  <a:pt x="986" y="1041533"/>
                </a:lnTo>
                <a:lnTo>
                  <a:pt x="0" y="1042519"/>
                </a:lnTo>
                <a:close/>
                <a:moveTo>
                  <a:pt x="1" y="10769"/>
                </a:moveTo>
                <a:cubicBezTo>
                  <a:pt x="1" y="133183"/>
                  <a:pt x="86833" y="235317"/>
                  <a:pt x="202264" y="258938"/>
                </a:cubicBezTo>
                <a:lnTo>
                  <a:pt x="253306" y="264083"/>
                </a:lnTo>
                <a:lnTo>
                  <a:pt x="253326" y="264083"/>
                </a:lnTo>
                <a:lnTo>
                  <a:pt x="263099" y="263098"/>
                </a:lnTo>
                <a:lnTo>
                  <a:pt x="264084" y="264083"/>
                </a:lnTo>
                <a:lnTo>
                  <a:pt x="635325" y="264083"/>
                </a:lnTo>
                <a:cubicBezTo>
                  <a:pt x="777360" y="264083"/>
                  <a:pt x="892502" y="379225"/>
                  <a:pt x="892502" y="521260"/>
                </a:cubicBezTo>
                <a:cubicBezTo>
                  <a:pt x="892502" y="663295"/>
                  <a:pt x="777360" y="778437"/>
                  <a:pt x="635325" y="778437"/>
                </a:cubicBezTo>
                <a:lnTo>
                  <a:pt x="264083" y="778437"/>
                </a:lnTo>
                <a:lnTo>
                  <a:pt x="263098" y="779421"/>
                </a:lnTo>
                <a:lnTo>
                  <a:pt x="253329" y="778437"/>
                </a:lnTo>
                <a:lnTo>
                  <a:pt x="253301" y="778437"/>
                </a:lnTo>
                <a:lnTo>
                  <a:pt x="202263" y="783581"/>
                </a:lnTo>
                <a:cubicBezTo>
                  <a:pt x="86832" y="807202"/>
                  <a:pt x="0" y="909336"/>
                  <a:pt x="0" y="1031750"/>
                </a:cubicBezTo>
                <a:lnTo>
                  <a:pt x="0" y="778436"/>
                </a:lnTo>
                <a:lnTo>
                  <a:pt x="1" y="778436"/>
                </a:lnTo>
                <a:lnTo>
                  <a:pt x="1" y="264083"/>
                </a:lnTo>
                <a:close/>
                <a:moveTo>
                  <a:pt x="1" y="0"/>
                </a:moveTo>
                <a:lnTo>
                  <a:pt x="987" y="986"/>
                </a:lnTo>
                <a:lnTo>
                  <a:pt x="1" y="10769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자유형 23">
            <a:extLst>
              <a:ext uri="{FF2B5EF4-FFF2-40B4-BE49-F238E27FC236}">
                <a16:creationId xmlns:a16="http://schemas.microsoft.com/office/drawing/2014/main" id="{F9A26E59-8FD2-E040-F0A4-18DDEE378D7F}"/>
              </a:ext>
            </a:extLst>
          </p:cNvPr>
          <p:cNvSpPr>
            <a:spLocks/>
          </p:cNvSpPr>
          <p:nvPr/>
        </p:nvSpPr>
        <p:spPr bwMode="auto">
          <a:xfrm>
            <a:off x="387023" y="2525939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960C9BE4-9333-6913-B878-2826891053EF}"/>
              </a:ext>
            </a:extLst>
          </p:cNvPr>
          <p:cNvSpPr>
            <a:spLocks/>
          </p:cNvSpPr>
          <p:nvPr/>
        </p:nvSpPr>
        <p:spPr bwMode="auto">
          <a:xfrm rot="10800000" flipH="1" flipV="1">
            <a:off x="386131" y="1876486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rgbClr val="6383E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9F88E4-A56C-5EA5-0276-2C0AEEE32E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709" y="413903"/>
            <a:ext cx="229344" cy="182438"/>
            <a:chOff x="6124" y="305"/>
            <a:chExt cx="841" cy="669"/>
          </a:xfrm>
          <a:solidFill>
            <a:srgbClr val="6383EC"/>
          </a:solidFill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7B8D716-3E24-1132-DA8C-8AE04D5B5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C368A870-929B-C8F5-D51C-CFC67709A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CC2B400B-54F1-27C5-7B0A-E2D0C15AD75C}"/>
              </a:ext>
            </a:extLst>
          </p:cNvPr>
          <p:cNvSpPr>
            <a:spLocks/>
          </p:cNvSpPr>
          <p:nvPr/>
        </p:nvSpPr>
        <p:spPr bwMode="auto">
          <a:xfrm>
            <a:off x="401543" y="1193003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rgbClr val="6383E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085247B-B89F-ABB9-ABB6-29354E2516CE}"/>
              </a:ext>
            </a:extLst>
          </p:cNvPr>
          <p:cNvSpPr/>
          <p:nvPr/>
        </p:nvSpPr>
        <p:spPr>
          <a:xfrm>
            <a:off x="502333" y="1092856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1000" dirty="0">
                <a:solidFill>
                  <a:prstClr val="white"/>
                </a:solidFill>
              </a:rPr>
              <a:t>5</a:t>
            </a:r>
            <a:endParaRPr lang="ko-KR" altLang="en-US" sz="1000" dirty="0">
              <a:solidFill>
                <a:prstClr val="white"/>
              </a:solidFill>
            </a:endParaRP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B38E0F06-1F03-A762-5F03-2737DE1000AF}"/>
              </a:ext>
            </a:extLst>
          </p:cNvPr>
          <p:cNvSpPr>
            <a:spLocks noEditPoints="1"/>
          </p:cNvSpPr>
          <p:nvPr/>
        </p:nvSpPr>
        <p:spPr bwMode="auto">
          <a:xfrm>
            <a:off x="406154" y="3264184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305E40D-20BF-5B6A-C811-A2930EC2B95A}"/>
              </a:ext>
            </a:extLst>
          </p:cNvPr>
          <p:cNvSpPr/>
          <p:nvPr/>
        </p:nvSpPr>
        <p:spPr>
          <a:xfrm>
            <a:off x="470124" y="3171863"/>
            <a:ext cx="177525" cy="177525"/>
          </a:xfrm>
          <a:prstGeom prst="ellipse">
            <a:avLst/>
          </a:prstGeom>
          <a:solidFill>
            <a:srgbClr val="FF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>
              <a:defRPr/>
            </a:pPr>
            <a:r>
              <a:rPr lang="en-US" altLang="ko-KR" sz="600" dirty="0">
                <a:solidFill>
                  <a:prstClr val="white"/>
                </a:solidFill>
              </a:rPr>
              <a:t>off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0710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935</Words>
  <Application>Microsoft Office PowerPoint</Application>
  <PresentationFormat>와이드스크린</PresentationFormat>
  <Paragraphs>176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THE명품고딕R</vt:lpstr>
      <vt:lpstr>THE명품고딕R_U</vt:lpstr>
      <vt:lpstr>Tmon몬소리 Black</vt:lpstr>
      <vt:lpstr>맑은 고딕</vt:lpstr>
      <vt:lpstr>Arial</vt:lpstr>
      <vt:lpstr>Baskerville Old Face</vt:lpstr>
      <vt:lpstr>Britannic Bold</vt:lpstr>
      <vt:lpstr>Cambria Math</vt:lpstr>
      <vt:lpstr>French Script MT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hyuna3589@gmail.com</cp:lastModifiedBy>
  <cp:revision>33</cp:revision>
  <dcterms:created xsi:type="dcterms:W3CDTF">2024-01-09T05:10:02Z</dcterms:created>
  <dcterms:modified xsi:type="dcterms:W3CDTF">2024-02-02T18:27:00Z</dcterms:modified>
</cp:coreProperties>
</file>